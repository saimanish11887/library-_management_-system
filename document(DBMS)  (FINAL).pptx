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4" r:id="rId28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20" d="100"/>
          <a:sy n="120" d="100"/>
        </p:scale>
        <p:origin x="-462" y="25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32279" y="3293363"/>
            <a:ext cx="4095750" cy="41052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684015" y="10087071"/>
            <a:ext cx="254635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'priya@email.com" TargetMode="External"/><Relationship Id="rId2" Type="http://schemas.openxmlformats.org/officeDocument/2006/relationships/hyperlink" Target="mailto:'rahul@email.com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mailto:'anita@library.com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priya@email.com" TargetMode="External"/><Relationship Id="rId2" Type="http://schemas.openxmlformats.org/officeDocument/2006/relationships/hyperlink" Target="mailto:rahul@email.com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mailto:anita@library.com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mailto:'amit@email.com" TargetMode="Externa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53465"/>
            <a:ext cx="4924425" cy="3093085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R="36195" algn="ctr">
              <a:lnSpc>
                <a:spcPct val="100000"/>
              </a:lnSpc>
              <a:spcBef>
                <a:spcPts val="1495"/>
              </a:spcBef>
            </a:pPr>
            <a:r>
              <a:rPr sz="2000" b="1" spc="-10" dirty="0">
                <a:latin typeface="Times New Roman"/>
                <a:cs typeface="Times New Roman"/>
              </a:rPr>
              <a:t>Department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R="45720" algn="ctr">
              <a:lnSpc>
                <a:spcPct val="100000"/>
              </a:lnSpc>
              <a:spcBef>
                <a:spcPts val="1395"/>
              </a:spcBef>
            </a:pPr>
            <a:r>
              <a:rPr sz="2000" b="1" dirty="0">
                <a:latin typeface="Times New Roman"/>
                <a:cs typeface="Times New Roman"/>
              </a:rPr>
              <a:t>Artificial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Intelligence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Machine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Learning</a:t>
            </a:r>
            <a:endParaRPr sz="2000">
              <a:latin typeface="Times New Roman"/>
              <a:cs typeface="Times New Roman"/>
            </a:endParaRPr>
          </a:p>
          <a:p>
            <a:pPr marL="1332865" marR="929005" indent="-4445" algn="ctr">
              <a:lnSpc>
                <a:spcPct val="144000"/>
              </a:lnSpc>
              <a:spcBef>
                <a:spcPts val="1270"/>
              </a:spcBef>
            </a:pPr>
            <a:r>
              <a:rPr sz="2000" dirty="0">
                <a:latin typeface="Times New Roman"/>
                <a:cs typeface="Times New Roman"/>
              </a:rPr>
              <a:t>B.Tech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III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Semester </a:t>
            </a:r>
            <a:r>
              <a:rPr sz="2000" spc="-45" dirty="0">
                <a:latin typeface="Times New Roman"/>
                <a:cs typeface="Times New Roman"/>
              </a:rPr>
              <a:t>Academic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Year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2026-</a:t>
            </a:r>
            <a:r>
              <a:rPr sz="2000" spc="-20" dirty="0">
                <a:latin typeface="Times New Roman"/>
                <a:cs typeface="Times New Roman"/>
              </a:rPr>
              <a:t>2027</a:t>
            </a:r>
            <a:endParaRPr sz="2000">
              <a:latin typeface="Times New Roman"/>
              <a:cs typeface="Times New Roman"/>
            </a:endParaRPr>
          </a:p>
          <a:p>
            <a:pPr marL="405130" algn="ctr">
              <a:lnSpc>
                <a:spcPct val="100000"/>
              </a:lnSpc>
              <a:spcBef>
                <a:spcPts val="1110"/>
              </a:spcBef>
            </a:pPr>
            <a:r>
              <a:rPr sz="2000" b="1" spc="-60" dirty="0">
                <a:latin typeface="Times New Roman"/>
                <a:cs typeface="Times New Roman"/>
              </a:rPr>
              <a:t>Data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60" dirty="0">
                <a:latin typeface="Times New Roman"/>
                <a:cs typeface="Times New Roman"/>
              </a:rPr>
              <a:t>Base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70" dirty="0">
                <a:latin typeface="Times New Roman"/>
                <a:cs typeface="Times New Roman"/>
              </a:rPr>
              <a:t>Management </a:t>
            </a:r>
            <a:r>
              <a:rPr sz="2000" b="1" spc="-65" dirty="0">
                <a:latin typeface="Times New Roman"/>
                <a:cs typeface="Times New Roman"/>
              </a:rPr>
              <a:t>Systems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(2501IT05)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2000">
              <a:latin typeface="Times New Roman"/>
              <a:cs typeface="Times New Roman"/>
            </a:endParaRPr>
          </a:p>
          <a:p>
            <a:pPr marL="412750" algn="ctr">
              <a:lnSpc>
                <a:spcPct val="100000"/>
              </a:lnSpc>
            </a:pPr>
            <a:r>
              <a:rPr sz="2000" b="1" spc="-100" dirty="0">
                <a:latin typeface="Times New Roman"/>
                <a:cs typeface="Times New Roman"/>
              </a:rPr>
              <a:t>Capstone</a:t>
            </a:r>
            <a:r>
              <a:rPr sz="2000" b="1" spc="-204" dirty="0">
                <a:latin typeface="Times New Roman"/>
                <a:cs typeface="Times New Roman"/>
              </a:rPr>
              <a:t> </a:t>
            </a:r>
            <a:r>
              <a:rPr sz="2000" b="1" spc="-95" dirty="0">
                <a:latin typeface="Times New Roman"/>
                <a:cs typeface="Times New Roman"/>
              </a:rPr>
              <a:t>Stone</a:t>
            </a:r>
            <a:r>
              <a:rPr sz="2000" b="1" spc="-240" dirty="0">
                <a:latin typeface="Times New Roman"/>
                <a:cs typeface="Times New Roman"/>
              </a:rPr>
              <a:t> </a:t>
            </a:r>
            <a:r>
              <a:rPr sz="2000" b="1" spc="-95" dirty="0">
                <a:latin typeface="Times New Roman"/>
                <a:cs typeface="Times New Roman"/>
              </a:rPr>
              <a:t>Project</a:t>
            </a:r>
            <a:r>
              <a:rPr sz="2000" b="1" spc="-204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Documentation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1445" y="4115815"/>
            <a:ext cx="2231389" cy="225171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99869" y="6493509"/>
            <a:ext cx="3568700" cy="1221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74700">
              <a:lnSpc>
                <a:spcPct val="100000"/>
              </a:lnSpc>
              <a:spcBef>
                <a:spcPts val="105"/>
              </a:spcBef>
            </a:pPr>
            <a:r>
              <a:rPr sz="1600" b="1" spc="-35" dirty="0">
                <a:solidFill>
                  <a:srgbClr val="4892D4"/>
                </a:solidFill>
                <a:latin typeface="Times New Roman"/>
                <a:cs typeface="Times New Roman"/>
              </a:rPr>
              <a:t>ADITYA</a:t>
            </a:r>
            <a:r>
              <a:rPr sz="1600" b="1" spc="-85" dirty="0">
                <a:solidFill>
                  <a:srgbClr val="4892D4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4892D4"/>
                </a:solidFill>
                <a:latin typeface="Times New Roman"/>
                <a:cs typeface="Times New Roman"/>
              </a:rPr>
              <a:t>UNIVERSITY</a:t>
            </a:r>
            <a:endParaRPr sz="1600">
              <a:latin typeface="Times New Roman"/>
              <a:cs typeface="Times New Roman"/>
            </a:endParaRPr>
          </a:p>
          <a:p>
            <a:pPr marL="1043305" marR="5080" indent="-1030605">
              <a:lnSpc>
                <a:spcPct val="144400"/>
              </a:lnSpc>
              <a:spcBef>
                <a:spcPts val="1245"/>
              </a:spcBef>
            </a:pPr>
            <a:r>
              <a:rPr sz="1800" spc="-30" dirty="0">
                <a:latin typeface="Times New Roman"/>
                <a:cs typeface="Times New Roman"/>
              </a:rPr>
              <a:t>Surampalem,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Kakinada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District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Andhra Pradesh-533437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7724" y="1194561"/>
            <a:ext cx="5653405" cy="4108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LIBRARY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MANAGEMENT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SYSTEM</a:t>
            </a:r>
            <a:endParaRPr sz="1600">
              <a:latin typeface="Times New Roman"/>
              <a:cs typeface="Times New Roman"/>
            </a:endParaRPr>
          </a:p>
          <a:p>
            <a:pPr marL="12700" marR="5080" algn="ctr">
              <a:lnSpc>
                <a:spcPct val="111700"/>
              </a:lnSpc>
              <a:spcBef>
                <a:spcPts val="1005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DBMS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Cornerstone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 Report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submitted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fulfillment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requirements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award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degree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</a:t>
            </a:r>
            <a:endParaRPr sz="1200">
              <a:latin typeface="Times New Roman"/>
              <a:cs typeface="Times New Roman"/>
            </a:endParaRPr>
          </a:p>
          <a:p>
            <a:pPr marL="8255" algn="ctr">
              <a:lnSpc>
                <a:spcPct val="100000"/>
              </a:lnSpc>
              <a:spcBef>
                <a:spcPts val="955"/>
              </a:spcBef>
            </a:pPr>
            <a:r>
              <a:rPr sz="1300" b="1" spc="-10" dirty="0">
                <a:latin typeface="Times New Roman"/>
                <a:cs typeface="Times New Roman"/>
              </a:rPr>
              <a:t>BACHELOR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OF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TECHNOLOGY</a:t>
            </a:r>
            <a:endParaRPr sz="1300">
              <a:latin typeface="Times New Roman"/>
              <a:cs typeface="Times New Roman"/>
            </a:endParaRPr>
          </a:p>
          <a:p>
            <a:pPr marL="13335" algn="ctr">
              <a:lnSpc>
                <a:spcPct val="100000"/>
              </a:lnSpc>
              <a:spcBef>
                <a:spcPts val="535"/>
              </a:spcBef>
            </a:pPr>
            <a:r>
              <a:rPr sz="1100" spc="-25" dirty="0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9525" algn="ctr">
              <a:lnSpc>
                <a:spcPct val="100000"/>
              </a:lnSpc>
              <a:spcBef>
                <a:spcPts val="595"/>
              </a:spcBef>
            </a:pPr>
            <a:r>
              <a:rPr sz="1300" b="1" dirty="0">
                <a:latin typeface="Times New Roman"/>
                <a:cs typeface="Times New Roman"/>
              </a:rPr>
              <a:t>ARTIFICIAL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INTELLIGENCE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AND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MACHINE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LEARNING</a:t>
            </a:r>
            <a:endParaRPr sz="1300">
              <a:latin typeface="Times New Roman"/>
              <a:cs typeface="Times New Roman"/>
            </a:endParaRPr>
          </a:p>
          <a:p>
            <a:pPr marL="14604" algn="ctr">
              <a:lnSpc>
                <a:spcPct val="100000"/>
              </a:lnSpc>
              <a:spcBef>
                <a:spcPts val="1300"/>
              </a:spcBef>
            </a:pPr>
            <a:r>
              <a:rPr sz="1200" dirty="0">
                <a:latin typeface="Times New Roman"/>
                <a:cs typeface="Times New Roman"/>
              </a:rPr>
              <a:t>Submitted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By</a:t>
            </a:r>
            <a:endParaRPr sz="1200">
              <a:latin typeface="Times New Roman"/>
              <a:cs typeface="Times New Roman"/>
            </a:endParaRPr>
          </a:p>
          <a:p>
            <a:pPr marL="2043430">
              <a:lnSpc>
                <a:spcPct val="100000"/>
              </a:lnSpc>
              <a:spcBef>
                <a:spcPts val="670"/>
              </a:spcBef>
            </a:pPr>
            <a:r>
              <a:rPr sz="1200" b="1" dirty="0">
                <a:latin typeface="Times New Roman"/>
                <a:cs typeface="Times New Roman"/>
              </a:rPr>
              <a:t>A.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AJAY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–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25B11AIB78</a:t>
            </a:r>
            <a:endParaRPr sz="1200">
              <a:latin typeface="Times New Roman"/>
              <a:cs typeface="Times New Roman"/>
            </a:endParaRPr>
          </a:p>
          <a:p>
            <a:pPr marL="1793239">
              <a:lnSpc>
                <a:spcPct val="100000"/>
              </a:lnSpc>
              <a:spcBef>
                <a:spcPts val="459"/>
              </a:spcBef>
            </a:pPr>
            <a:r>
              <a:rPr sz="1200" b="1" dirty="0">
                <a:latin typeface="Times New Roman"/>
                <a:cs typeface="Times New Roman"/>
              </a:rPr>
              <a:t>T.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SAI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MANISH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– </a:t>
            </a:r>
            <a:r>
              <a:rPr sz="1200" b="1" spc="-10" dirty="0">
                <a:latin typeface="Times New Roman"/>
                <a:cs typeface="Times New Roman"/>
              </a:rPr>
              <a:t>25B11AIB78</a:t>
            </a:r>
            <a:endParaRPr sz="1200">
              <a:latin typeface="Times New Roman"/>
              <a:cs typeface="Times New Roman"/>
            </a:endParaRPr>
          </a:p>
          <a:p>
            <a:pPr marL="1820545">
              <a:lnSpc>
                <a:spcPct val="100000"/>
              </a:lnSpc>
              <a:spcBef>
                <a:spcPts val="434"/>
              </a:spcBef>
            </a:pPr>
            <a:r>
              <a:rPr sz="1200" b="1" dirty="0">
                <a:latin typeface="Times New Roman"/>
                <a:cs typeface="Times New Roman"/>
              </a:rPr>
              <a:t>T.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JASWANTH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– </a:t>
            </a:r>
            <a:r>
              <a:rPr sz="1200" b="1" spc="-10" dirty="0">
                <a:latin typeface="Times New Roman"/>
                <a:cs typeface="Times New Roman"/>
              </a:rPr>
              <a:t>25B11AIB83</a:t>
            </a:r>
            <a:endParaRPr sz="1200">
              <a:latin typeface="Times New Roman"/>
              <a:cs typeface="Times New Roman"/>
            </a:endParaRPr>
          </a:p>
          <a:p>
            <a:pPr marL="1842135">
              <a:lnSpc>
                <a:spcPct val="100000"/>
              </a:lnSpc>
              <a:spcBef>
                <a:spcPts val="455"/>
              </a:spcBef>
            </a:pPr>
            <a:r>
              <a:rPr sz="1200" b="1" dirty="0">
                <a:latin typeface="Times New Roman"/>
                <a:cs typeface="Times New Roman"/>
              </a:rPr>
              <a:t>Y.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HEMANTH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–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25B11AIC91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1200">
              <a:latin typeface="Times New Roman"/>
              <a:cs typeface="Times New Roman"/>
            </a:endParaRPr>
          </a:p>
          <a:p>
            <a:pPr marL="12065" algn="ctr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Under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esteemed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guidance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</a:t>
            </a:r>
            <a:endParaRPr sz="1200">
              <a:latin typeface="Times New Roman"/>
              <a:cs typeface="Times New Roman"/>
            </a:endParaRPr>
          </a:p>
          <a:p>
            <a:pPr marL="11430" algn="ctr">
              <a:lnSpc>
                <a:spcPct val="100000"/>
              </a:lnSpc>
              <a:spcBef>
                <a:spcPts val="575"/>
              </a:spcBef>
            </a:pPr>
            <a:r>
              <a:rPr sz="1200" b="1" dirty="0">
                <a:latin typeface="Times New Roman"/>
                <a:cs typeface="Times New Roman"/>
              </a:rPr>
              <a:t>Ms.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G.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Sravani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200">
              <a:latin typeface="Times New Roman"/>
              <a:cs typeface="Times New Roman"/>
            </a:endParaRPr>
          </a:p>
          <a:p>
            <a:pPr marL="13335" algn="ctr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latin typeface="Times New Roman"/>
                <a:cs typeface="Times New Roman"/>
              </a:rPr>
              <a:t>Assistant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Professor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 descr="Aditya University emblem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5779" y="5544311"/>
            <a:ext cx="1428749" cy="132359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05636" y="6973539"/>
            <a:ext cx="5542280" cy="114046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5"/>
              </a:spcBef>
            </a:pPr>
            <a:r>
              <a:rPr sz="1200" b="1" dirty="0">
                <a:latin typeface="Times New Roman"/>
                <a:cs typeface="Times New Roman"/>
              </a:rPr>
              <a:t>DEPARTMENT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ARTIFICIAL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INTELLIGENCE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MACHINE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LEARNING</a:t>
            </a:r>
            <a:endParaRPr sz="1200">
              <a:latin typeface="Times New Roman"/>
              <a:cs typeface="Times New Roman"/>
            </a:endParaRPr>
          </a:p>
          <a:p>
            <a:pPr marL="6350" algn="ctr">
              <a:lnSpc>
                <a:spcPct val="100000"/>
              </a:lnSpc>
              <a:spcBef>
                <a:spcPts val="635"/>
              </a:spcBef>
            </a:pPr>
            <a:r>
              <a:rPr sz="1500" b="1" dirty="0">
                <a:latin typeface="Times New Roman"/>
                <a:cs typeface="Times New Roman"/>
              </a:rPr>
              <a:t>ADITYA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UNIVERSITY</a:t>
            </a:r>
            <a:endParaRPr sz="15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370"/>
              </a:spcBef>
            </a:pPr>
            <a:r>
              <a:rPr sz="1200" dirty="0">
                <a:latin typeface="Times New Roman"/>
                <a:cs typeface="Times New Roman"/>
              </a:rPr>
              <a:t>Aditya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Nagar,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ADB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Road,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Surampalem,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Andhra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Pradesh,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India</a:t>
            </a:r>
            <a:endParaRPr sz="1200">
              <a:latin typeface="Times New Roman"/>
              <a:cs typeface="Times New Roman"/>
            </a:endParaRPr>
          </a:p>
          <a:p>
            <a:pPr marL="11430" algn="ctr">
              <a:lnSpc>
                <a:spcPct val="100000"/>
              </a:lnSpc>
              <a:spcBef>
                <a:spcPts val="1155"/>
              </a:spcBef>
            </a:pPr>
            <a:r>
              <a:rPr sz="1200" b="1" dirty="0">
                <a:latin typeface="Times New Roman"/>
                <a:cs typeface="Times New Roman"/>
              </a:rPr>
              <a:t>2026 –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2027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7589" y="1480182"/>
            <a:ext cx="5085080" cy="42672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sz="1000" dirty="0">
                <a:latin typeface="Times New Roman"/>
                <a:cs typeface="Times New Roman"/>
              </a:rPr>
              <a:t>Aditya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Nagar,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ADB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Road,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Surampalem,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Andhra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Pradesh,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India</a:t>
            </a:r>
            <a:endParaRPr sz="1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sz="1100" b="1" spc="-10" dirty="0">
                <a:latin typeface="Times New Roman"/>
                <a:cs typeface="Times New Roman"/>
              </a:rPr>
              <a:t>DEPARTMENT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ARTIFICIAL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INTELLIGENCE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MACHINE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6" name="object 6" descr="University banne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6980" y="826007"/>
            <a:ext cx="5084445" cy="692276"/>
          </a:xfrm>
          <a:prstGeom prst="rect">
            <a:avLst/>
          </a:prstGeom>
        </p:spPr>
      </p:pic>
      <p:pic>
        <p:nvPicPr>
          <p:cNvPr id="7" name="object 7" descr="Aditya University emblem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9629" y="1985263"/>
            <a:ext cx="781050" cy="7239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2831973"/>
            <a:ext cx="5759450" cy="2413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CERTIFICATE</a:t>
            </a:r>
            <a:endParaRPr sz="1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4300"/>
              </a:lnSpc>
              <a:spcBef>
                <a:spcPts val="290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certify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DBMS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Cornerstone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entitled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“Library</a:t>
            </a:r>
            <a:r>
              <a:rPr sz="1200" b="1" spc="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Management </a:t>
            </a:r>
            <a:r>
              <a:rPr sz="1200" b="1" dirty="0">
                <a:latin typeface="Times New Roman"/>
                <a:cs typeface="Times New Roman"/>
              </a:rPr>
              <a:t>System”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submitted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AJAY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(Roll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25B11AIB78),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T.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MANISH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(Roll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No. </a:t>
            </a:r>
            <a:r>
              <a:rPr sz="1200" dirty="0">
                <a:latin typeface="Times New Roman"/>
                <a:cs typeface="Times New Roman"/>
              </a:rPr>
              <a:t>25B11AIB78),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T.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JASWANTH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(Roll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No.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25B11AIB83)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Y.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HEMANTH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(Roll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43300"/>
              </a:lnSpc>
            </a:pPr>
            <a:r>
              <a:rPr sz="1200" dirty="0">
                <a:latin typeface="Times New Roman"/>
                <a:cs typeface="Times New Roman"/>
              </a:rPr>
              <a:t>25B11AIC91)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fulfillment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requirements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award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B.Tech.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degree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 </a:t>
            </a:r>
            <a:r>
              <a:rPr sz="1200" spc="-10" dirty="0">
                <a:latin typeface="Times New Roman"/>
                <a:cs typeface="Times New Roman"/>
              </a:rPr>
              <a:t>Artificial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Intelligence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documented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carried </a:t>
            </a:r>
            <a:r>
              <a:rPr sz="1200" dirty="0">
                <a:latin typeface="Times New Roman"/>
                <a:cs typeface="Times New Roman"/>
              </a:rPr>
              <a:t>out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Cornerstone</a:t>
            </a:r>
            <a:r>
              <a:rPr sz="1200" b="1" spc="2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Project</a:t>
            </a:r>
            <a:r>
              <a:rPr sz="1200" b="1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course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Database</a:t>
            </a:r>
            <a:r>
              <a:rPr sz="1200" b="1" spc="2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Management</a:t>
            </a:r>
            <a:r>
              <a:rPr sz="1200" b="1" spc="2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Systems</a:t>
            </a:r>
            <a:endParaRPr sz="1200">
              <a:latin typeface="Times New Roman"/>
              <a:cs typeface="Times New Roman"/>
            </a:endParaRPr>
          </a:p>
          <a:p>
            <a:pPr marL="12700" marR="10795" algn="just">
              <a:lnSpc>
                <a:spcPct val="143300"/>
              </a:lnSpc>
              <a:spcBef>
                <a:spcPts val="30"/>
              </a:spcBef>
            </a:pPr>
            <a:r>
              <a:rPr sz="1200" b="1" dirty="0">
                <a:latin typeface="Times New Roman"/>
                <a:cs typeface="Times New Roman"/>
              </a:rPr>
              <a:t>(2501IT05)</a:t>
            </a:r>
            <a:r>
              <a:rPr sz="1200" b="1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academic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year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b="1" dirty="0">
                <a:latin typeface="Times New Roman"/>
                <a:cs typeface="Times New Roman"/>
              </a:rPr>
              <a:t>2026–2027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records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design, implementation,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documentation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undertaken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team.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89050" y="5638237"/>
          <a:ext cx="5781675" cy="620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6955"/>
                <a:gridCol w="3474720"/>
              </a:tblGrid>
              <a:tr h="620395">
                <a:tc>
                  <a:txBody>
                    <a:bodyPr/>
                    <a:lstStyle/>
                    <a:p>
                      <a:pPr marL="31750">
                        <a:lnSpc>
                          <a:spcPts val="152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sz="14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Guide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Ms. G.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Sravani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360"/>
                        </a:lnSpc>
                        <a:spcBef>
                          <a:spcPts val="33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Assistant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Professor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ts val="152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Head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Department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712595" marR="24130" indent="-588645" algn="r">
                        <a:lnSpc>
                          <a:spcPts val="1370"/>
                        </a:lnSpc>
                        <a:spcBef>
                          <a:spcPts val="23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Dr.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K.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Naga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Bhargavi,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M.Tech,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Ph.D.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Associate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Professor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HOD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143250" y="7161403"/>
            <a:ext cx="1274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External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Examiner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95274"/>
            <a:ext cx="5756275" cy="4178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DECLARATION</a:t>
            </a:r>
            <a:endParaRPr sz="1600">
              <a:latin typeface="Times New Roman"/>
              <a:cs typeface="Times New Roman"/>
            </a:endParaRPr>
          </a:p>
          <a:p>
            <a:pPr marL="12700" marR="10160" algn="just">
              <a:lnSpc>
                <a:spcPct val="144300"/>
              </a:lnSpc>
              <a:spcBef>
                <a:spcPts val="290"/>
              </a:spcBef>
            </a:pP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hereby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declare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that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DBMS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Cornerstone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 entitled “Library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Management System”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genuine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carried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 us.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implementation,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queries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documentation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presented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own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completed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under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guidance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Ms.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300"/>
              </a:lnSpc>
            </a:pPr>
            <a:r>
              <a:rPr sz="1200" dirty="0">
                <a:latin typeface="Times New Roman"/>
                <a:cs typeface="Times New Roman"/>
              </a:rPr>
              <a:t>G.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Sravani,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Department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Artificial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Intelligence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Learning,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Aditya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University, </a:t>
            </a:r>
            <a:r>
              <a:rPr sz="1200" dirty="0">
                <a:latin typeface="Times New Roman"/>
                <a:cs typeface="Times New Roman"/>
              </a:rPr>
              <a:t>Surampalem.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further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declare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submitted,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full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dirty="0">
                <a:latin typeface="Times New Roman"/>
                <a:cs typeface="Times New Roman"/>
              </a:rPr>
              <a:t>the award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degree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educational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institution.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200">
              <a:latin typeface="Times New Roman"/>
              <a:cs typeface="Times New Roman"/>
            </a:endParaRPr>
          </a:p>
          <a:p>
            <a:pPr marR="9525" algn="r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Times New Roman"/>
                <a:cs typeface="Times New Roman"/>
              </a:rPr>
              <a:t>Project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Associates</a:t>
            </a:r>
            <a:endParaRPr sz="1400">
              <a:latin typeface="Times New Roman"/>
              <a:cs typeface="Times New Roman"/>
            </a:endParaRPr>
          </a:p>
          <a:p>
            <a:pPr marR="8890" algn="r">
              <a:lnSpc>
                <a:spcPct val="100000"/>
              </a:lnSpc>
              <a:spcBef>
                <a:spcPts val="535"/>
              </a:spcBef>
            </a:pPr>
            <a:r>
              <a:rPr sz="1200" dirty="0">
                <a:latin typeface="Times New Roman"/>
                <a:cs typeface="Times New Roman"/>
              </a:rPr>
              <a:t>A.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AJAY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(25B11AIB78)</a:t>
            </a:r>
            <a:endParaRPr sz="1200">
              <a:latin typeface="Times New Roman"/>
              <a:cs typeface="Times New Roman"/>
            </a:endParaRPr>
          </a:p>
          <a:p>
            <a:pPr marR="9525" algn="r">
              <a:lnSpc>
                <a:spcPct val="100000"/>
              </a:lnSpc>
              <a:spcBef>
                <a:spcPts val="360"/>
              </a:spcBef>
            </a:pPr>
            <a:r>
              <a:rPr sz="1200" dirty="0">
                <a:latin typeface="Times New Roman"/>
                <a:cs typeface="Times New Roman"/>
              </a:rPr>
              <a:t>T.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MANISH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(25B11AIB78)</a:t>
            </a:r>
            <a:endParaRPr sz="1200">
              <a:latin typeface="Times New Roman"/>
              <a:cs typeface="Times New Roman"/>
            </a:endParaRPr>
          </a:p>
          <a:p>
            <a:pPr marR="6350" algn="r">
              <a:lnSpc>
                <a:spcPct val="100000"/>
              </a:lnSpc>
              <a:spcBef>
                <a:spcPts val="340"/>
              </a:spcBef>
            </a:pPr>
            <a:r>
              <a:rPr sz="1200" dirty="0">
                <a:latin typeface="Times New Roman"/>
                <a:cs typeface="Times New Roman"/>
              </a:rPr>
              <a:t>T.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JASWANTH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(25B11AIB83)</a:t>
            </a:r>
            <a:endParaRPr sz="1200">
              <a:latin typeface="Times New Roman"/>
              <a:cs typeface="Times New Roman"/>
            </a:endParaRPr>
          </a:p>
          <a:p>
            <a:pPr marR="5715" algn="r"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latin typeface="Times New Roman"/>
                <a:cs typeface="Times New Roman"/>
              </a:rPr>
              <a:t>Y.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HEMANTH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(25B11AIC91)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804920">
              <a:lnSpc>
                <a:spcPct val="125099"/>
              </a:lnSpc>
              <a:tabLst>
                <a:tab pos="1942464" algn="l"/>
              </a:tabLst>
            </a:pPr>
            <a:r>
              <a:rPr sz="1200" dirty="0">
                <a:latin typeface="Times New Roman"/>
                <a:cs typeface="Times New Roman"/>
              </a:rPr>
              <a:t>Date: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dirty="0">
                <a:latin typeface="Times New Roman"/>
                <a:cs typeface="Times New Roman"/>
              </a:rPr>
              <a:t> Place: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Surampalem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95274"/>
            <a:ext cx="5760085" cy="52425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ACKNOWLEDGEMENT</a:t>
            </a:r>
            <a:endParaRPr sz="16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44000"/>
              </a:lnSpc>
              <a:spcBef>
                <a:spcPts val="295"/>
              </a:spcBef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immense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pleasure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 we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express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indebted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gratitude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</a:t>
            </a:r>
            <a:r>
              <a:rPr sz="1200" dirty="0">
                <a:latin typeface="Times New Roman"/>
                <a:cs typeface="Times New Roman"/>
              </a:rPr>
              <a:t> guide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Ms.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G. </a:t>
            </a:r>
            <a:r>
              <a:rPr sz="1200" dirty="0">
                <a:latin typeface="Times New Roman"/>
                <a:cs typeface="Times New Roman"/>
              </a:rPr>
              <a:t>Sravani,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Department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Artificial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Intelligence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Learning,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who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guided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us </a:t>
            </a:r>
            <a:r>
              <a:rPr sz="1200" dirty="0">
                <a:latin typeface="Times New Roman"/>
                <a:cs typeface="Times New Roman"/>
              </a:rPr>
              <a:t>throughout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cornerstone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project.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thankful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constant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encouragement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valuable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suggestions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 every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review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stage.</a:t>
            </a:r>
            <a:endParaRPr sz="1200">
              <a:latin typeface="Times New Roman"/>
              <a:cs typeface="Times New Roman"/>
            </a:endParaRPr>
          </a:p>
          <a:p>
            <a:pPr marL="12700" marR="12700" algn="just">
              <a:lnSpc>
                <a:spcPct val="143500"/>
              </a:lnSpc>
              <a:spcBef>
                <a:spcPts val="1005"/>
              </a:spcBef>
            </a:pP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grateful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Dr.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K.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Naga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Bhargavi,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Head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Department,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inspiring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dirty="0">
                <a:latin typeface="Times New Roman"/>
                <a:cs typeface="Times New Roman"/>
              </a:rPr>
              <a:t>arranging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facilities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resources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project.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300"/>
              </a:lnSpc>
              <a:spcBef>
                <a:spcPts val="1010"/>
              </a:spcBef>
            </a:pPr>
            <a:r>
              <a:rPr sz="1200" dirty="0">
                <a:latin typeface="Times New Roman"/>
                <a:cs typeface="Times New Roman"/>
              </a:rPr>
              <a:t>We extend our sincere thanks to the Management, Dr. M. Sreenivasa Reddy, Deputy </a:t>
            </a:r>
            <a:r>
              <a:rPr sz="1200" spc="-20" dirty="0">
                <a:latin typeface="Times New Roman"/>
                <a:cs typeface="Times New Roman"/>
              </a:rPr>
              <a:t>Pro-</a:t>
            </a:r>
            <a:r>
              <a:rPr sz="1200" dirty="0">
                <a:latin typeface="Times New Roman"/>
                <a:cs typeface="Times New Roman"/>
              </a:rPr>
              <a:t>Chancellor,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Dr.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B.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Srinivas,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Vice-</a:t>
            </a:r>
            <a:r>
              <a:rPr sz="1200" dirty="0">
                <a:latin typeface="Times New Roman"/>
                <a:cs typeface="Times New Roman"/>
              </a:rPr>
              <a:t>Chancellor,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Dr.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A.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Ramesh,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Vice-Chancellor (Engineering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Sciences),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excellent </a:t>
            </a:r>
            <a:r>
              <a:rPr sz="1200" spc="-10" dirty="0">
                <a:latin typeface="Times New Roman"/>
                <a:cs typeface="Times New Roman"/>
              </a:rPr>
              <a:t>academic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environment.</a:t>
            </a:r>
            <a:endParaRPr sz="1200">
              <a:latin typeface="Times New Roman"/>
              <a:cs typeface="Times New Roman"/>
            </a:endParaRPr>
          </a:p>
          <a:p>
            <a:pPr marL="12700" marR="9525" algn="just">
              <a:lnSpc>
                <a:spcPct val="145000"/>
              </a:lnSpc>
              <a:spcBef>
                <a:spcPts val="985"/>
              </a:spcBef>
            </a:pP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forget,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thank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Teaching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Non-</a:t>
            </a:r>
            <a:r>
              <a:rPr sz="1200" spc="-10" dirty="0">
                <a:latin typeface="Times New Roman"/>
                <a:cs typeface="Times New Roman"/>
              </a:rPr>
              <a:t>Teaching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Staff,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parents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friends,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who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directly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 </a:t>
            </a:r>
            <a:r>
              <a:rPr sz="1200" spc="-10" dirty="0">
                <a:latin typeface="Times New Roman"/>
                <a:cs typeface="Times New Roman"/>
              </a:rPr>
              <a:t>indirectly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completing</a:t>
            </a:r>
            <a:r>
              <a:rPr sz="1200" dirty="0">
                <a:latin typeface="Times New Roman"/>
                <a:cs typeface="Times New Roman"/>
              </a:rPr>
              <a:t> this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time.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200">
              <a:latin typeface="Times New Roman"/>
              <a:cs typeface="Times New Roman"/>
            </a:endParaRPr>
          </a:p>
          <a:p>
            <a:pPr marR="12700" algn="r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Times New Roman"/>
                <a:cs typeface="Times New Roman"/>
              </a:rPr>
              <a:t>Project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Associates</a:t>
            </a:r>
            <a:endParaRPr sz="1400">
              <a:latin typeface="Times New Roman"/>
              <a:cs typeface="Times New Roman"/>
            </a:endParaRPr>
          </a:p>
          <a:p>
            <a:pPr marR="12065" algn="r">
              <a:lnSpc>
                <a:spcPct val="100000"/>
              </a:lnSpc>
              <a:spcBef>
                <a:spcPts val="535"/>
              </a:spcBef>
            </a:pPr>
            <a:r>
              <a:rPr sz="1200" dirty="0">
                <a:latin typeface="Times New Roman"/>
                <a:cs typeface="Times New Roman"/>
              </a:rPr>
              <a:t>A.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AJAY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(25B11AIB78)</a:t>
            </a:r>
            <a:endParaRPr sz="1200">
              <a:latin typeface="Times New Roman"/>
              <a:cs typeface="Times New Roman"/>
            </a:endParaRPr>
          </a:p>
          <a:p>
            <a:pPr marR="12700" algn="r">
              <a:lnSpc>
                <a:spcPct val="100000"/>
              </a:lnSpc>
              <a:spcBef>
                <a:spcPts val="360"/>
              </a:spcBef>
            </a:pPr>
            <a:r>
              <a:rPr sz="1200" dirty="0">
                <a:latin typeface="Times New Roman"/>
                <a:cs typeface="Times New Roman"/>
              </a:rPr>
              <a:t>T.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MANISH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(25B11AIB78)</a:t>
            </a:r>
            <a:endParaRPr sz="1200">
              <a:latin typeface="Times New Roman"/>
              <a:cs typeface="Times New Roman"/>
            </a:endParaRPr>
          </a:p>
          <a:p>
            <a:pPr marR="9525" algn="r">
              <a:lnSpc>
                <a:spcPct val="100000"/>
              </a:lnSpc>
              <a:spcBef>
                <a:spcPts val="335"/>
              </a:spcBef>
            </a:pPr>
            <a:r>
              <a:rPr sz="1200" dirty="0">
                <a:latin typeface="Times New Roman"/>
                <a:cs typeface="Times New Roman"/>
              </a:rPr>
              <a:t>T.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JASWANTH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(25B11AIB83)</a:t>
            </a:r>
            <a:endParaRPr sz="1200">
              <a:latin typeface="Times New Roman"/>
              <a:cs typeface="Times New Roman"/>
            </a:endParaRPr>
          </a:p>
          <a:p>
            <a:pPr marR="9525" algn="r">
              <a:lnSpc>
                <a:spcPct val="100000"/>
              </a:lnSpc>
              <a:spcBef>
                <a:spcPts val="360"/>
              </a:spcBef>
            </a:pPr>
            <a:r>
              <a:rPr sz="1200" dirty="0">
                <a:latin typeface="Times New Roman"/>
                <a:cs typeface="Times New Roman"/>
              </a:rPr>
              <a:t>Y.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HEMANTH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(25B11AIC91)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6416" y="2228722"/>
            <a:ext cx="5768975" cy="6350"/>
          </a:xfrm>
          <a:custGeom>
            <a:avLst/>
            <a:gdLst/>
            <a:ahLst/>
            <a:cxnLst/>
            <a:rect l="l" t="t" r="r" b="b"/>
            <a:pathLst>
              <a:path w="5768975" h="6350">
                <a:moveTo>
                  <a:pt x="5768975" y="0"/>
                </a:moveTo>
                <a:lnTo>
                  <a:pt x="0" y="0"/>
                </a:lnTo>
                <a:lnTo>
                  <a:pt x="0" y="6096"/>
                </a:lnTo>
                <a:lnTo>
                  <a:pt x="5768975" y="6096"/>
                </a:lnTo>
                <a:lnTo>
                  <a:pt x="57689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6416" y="2564002"/>
            <a:ext cx="5768975" cy="6350"/>
          </a:xfrm>
          <a:custGeom>
            <a:avLst/>
            <a:gdLst/>
            <a:ahLst/>
            <a:cxnLst/>
            <a:rect l="l" t="t" r="r" b="b"/>
            <a:pathLst>
              <a:path w="5768975" h="6350">
                <a:moveTo>
                  <a:pt x="5768975" y="0"/>
                </a:moveTo>
                <a:lnTo>
                  <a:pt x="0" y="0"/>
                </a:lnTo>
                <a:lnTo>
                  <a:pt x="0" y="6096"/>
                </a:lnTo>
                <a:lnTo>
                  <a:pt x="5768975" y="6096"/>
                </a:lnTo>
                <a:lnTo>
                  <a:pt x="57689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2004" y="785812"/>
            <a:ext cx="4709795" cy="21209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044575" algn="ctr">
              <a:lnSpc>
                <a:spcPct val="100000"/>
              </a:lnSpc>
              <a:spcBef>
                <a:spcPts val="215"/>
              </a:spcBef>
            </a:pPr>
            <a:r>
              <a:rPr sz="1400" b="1" dirty="0">
                <a:latin typeface="Times New Roman"/>
                <a:cs typeface="Times New Roman"/>
              </a:rPr>
              <a:t>ADITYA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UNIVERSITY</a:t>
            </a:r>
            <a:endParaRPr sz="1400">
              <a:latin typeface="Times New Roman"/>
              <a:cs typeface="Times New Roman"/>
            </a:endParaRPr>
          </a:p>
          <a:p>
            <a:pPr marL="1043305"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Surampalem</a:t>
            </a:r>
            <a:endParaRPr sz="1200">
              <a:latin typeface="Times New Roman"/>
              <a:cs typeface="Times New Roman"/>
            </a:endParaRPr>
          </a:p>
          <a:p>
            <a:pPr marL="1036319" algn="ctr">
              <a:lnSpc>
                <a:spcPct val="100000"/>
              </a:lnSpc>
              <a:spcBef>
                <a:spcPts val="360"/>
              </a:spcBef>
            </a:pPr>
            <a:r>
              <a:rPr sz="1200" spc="-10" dirty="0">
                <a:latin typeface="Times New Roman"/>
                <a:cs typeface="Times New Roman"/>
              </a:rPr>
              <a:t>Department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Artificial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Intelligence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</a:t>
            </a:r>
            <a:endParaRPr sz="1200">
              <a:latin typeface="Times New Roman"/>
              <a:cs typeface="Times New Roman"/>
            </a:endParaRPr>
          </a:p>
          <a:p>
            <a:pPr marL="1043940" algn="ctr">
              <a:lnSpc>
                <a:spcPct val="100000"/>
              </a:lnSpc>
              <a:spcBef>
                <a:spcPts val="1150"/>
              </a:spcBef>
            </a:pPr>
            <a:r>
              <a:rPr sz="1400" b="1" dirty="0">
                <a:latin typeface="Times New Roman"/>
                <a:cs typeface="Times New Roman"/>
              </a:rPr>
              <a:t>DBMS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CORNERSTONE</a:t>
            </a:r>
            <a:r>
              <a:rPr sz="1400" b="1" spc="1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PROJECT</a:t>
            </a:r>
            <a:endParaRPr sz="1400">
              <a:latin typeface="Times New Roman"/>
              <a:cs typeface="Times New Roman"/>
            </a:endParaRPr>
          </a:p>
          <a:p>
            <a:pPr marL="1039494" algn="ctr">
              <a:lnSpc>
                <a:spcPct val="100000"/>
              </a:lnSpc>
              <a:spcBef>
                <a:spcPts val="484"/>
              </a:spcBef>
            </a:pPr>
            <a:r>
              <a:rPr sz="1300" b="1" dirty="0">
                <a:latin typeface="Times New Roman"/>
                <a:cs typeface="Times New Roman"/>
              </a:rPr>
              <a:t>Project</a:t>
            </a:r>
            <a:r>
              <a:rPr sz="1300" b="1" spc="-5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Documentation</a:t>
            </a:r>
            <a:r>
              <a:rPr sz="1300" b="1" spc="-70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Report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300">
              <a:latin typeface="Times New Roman"/>
              <a:cs typeface="Times New Roman"/>
            </a:endParaRPr>
          </a:p>
          <a:p>
            <a:pPr marL="1046480" algn="ctr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Title: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Submitted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by: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2987928"/>
          <a:ext cx="5147944" cy="12706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3405"/>
                <a:gridCol w="3174364"/>
                <a:gridCol w="1400175"/>
              </a:tblGrid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S.No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Student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Roll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Number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A.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AJAY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25B11AIB78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T.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SAI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MANISH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25B11AIB78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T.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JASWANTH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25B11AIB83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Y.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HEMANTH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25B11AIC91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02004" y="4456683"/>
            <a:ext cx="3042920" cy="1087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1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Course: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Management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(DBMS)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Guide: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Ms.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Sravani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200" spc="-10" dirty="0">
                <a:latin typeface="Times New Roman"/>
                <a:cs typeface="Times New Roman"/>
              </a:rPr>
              <a:t>Academic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Year: 2026–</a:t>
            </a:r>
            <a:r>
              <a:rPr sz="1200" spc="-25" dirty="0">
                <a:latin typeface="Times New Roman"/>
                <a:cs typeface="Times New Roman"/>
              </a:rPr>
              <a:t>27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850515" algn="l"/>
              </a:tabLst>
            </a:pPr>
            <a:r>
              <a:rPr sz="1200" dirty="0">
                <a:latin typeface="Times New Roman"/>
                <a:cs typeface="Times New Roman"/>
              </a:rPr>
              <a:t>Date of Submission: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50880" y="4539233"/>
            <a:ext cx="1496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Course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2501IT05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004" y="5600191"/>
            <a:ext cx="543369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GitHub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Repository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>
                <a:latin typeface="Times New Roman"/>
                <a:cs typeface="Times New Roman"/>
              </a:rPr>
              <a:t>Link</a:t>
            </a:r>
            <a:r>
              <a:rPr sz="1200" spc="-10" smtClean="0">
                <a:latin typeface="Times New Roman"/>
                <a:cs typeface="Times New Roman"/>
              </a:rPr>
              <a:t>:</a:t>
            </a:r>
            <a:r>
              <a:rPr lang="en-US" sz="1200" spc="-10" dirty="0" smtClean="0">
                <a:latin typeface="Times New Roman"/>
                <a:cs typeface="Times New Roman"/>
              </a:rPr>
              <a:t> https://github.com/saimanish11887/Library-_management_-system.git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0429" y="798322"/>
            <a:ext cx="221996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TABLE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10" dirty="0">
                <a:latin typeface="Times New Roman"/>
                <a:cs typeface="Times New Roman"/>
              </a:rPr>
              <a:t> CONTENTS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161541"/>
          <a:ext cx="5733415" cy="8117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/>
                <a:gridCol w="4147185"/>
                <a:gridCol w="887730"/>
              </a:tblGrid>
              <a:tr h="25272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spc="-10" smtClean="0">
                          <a:latin typeface="Times New Roman" pitchFamily="18" charset="0"/>
                          <a:cs typeface="Times New Roman" pitchFamily="18" charset="0"/>
                        </a:rPr>
                        <a:t>Chapter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spc="-10" dirty="0"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dirty="0">
                          <a:latin typeface="Times New Roman" pitchFamily="18" charset="0"/>
                          <a:cs typeface="Times New Roman" pitchFamily="18" charset="0"/>
                        </a:rPr>
                        <a:t>Page</a:t>
                      </a:r>
                      <a:r>
                        <a:rPr sz="1200" b="1" spc="-3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25" dirty="0">
                          <a:latin typeface="Times New Roman" pitchFamily="18" charset="0"/>
                          <a:cs typeface="Times New Roman" pitchFamily="18" charset="0"/>
                        </a:rPr>
                        <a:t>No.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Certificate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5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Declaration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5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Acknowledgement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50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Project</a:t>
                      </a:r>
                      <a:r>
                        <a:rPr sz="1200" spc="1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Documentation</a:t>
                      </a:r>
                      <a:r>
                        <a:rPr sz="1200" spc="-3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Report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50" dirty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5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10" dirty="0">
                          <a:latin typeface="Times New Roman" pitchFamily="18" charset="0"/>
                          <a:cs typeface="Times New Roman" pitchFamily="18" charset="0"/>
                        </a:rPr>
                        <a:t>ABSTRACT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50" dirty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List</a:t>
                      </a:r>
                      <a:r>
                        <a:rPr sz="1200" spc="-1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of</a:t>
                      </a:r>
                      <a:r>
                        <a:rPr sz="1200" spc="-4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Figures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50" dirty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List</a:t>
                      </a:r>
                      <a:r>
                        <a:rPr sz="1200" spc="-1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of</a:t>
                      </a:r>
                      <a:r>
                        <a:rPr sz="1200" spc="-4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Tables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50" dirty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5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10" dirty="0">
                          <a:latin typeface="Times New Roman" pitchFamily="18" charset="0"/>
                          <a:cs typeface="Times New Roman" pitchFamily="18" charset="0"/>
                        </a:rPr>
                        <a:t>INTRODUCTION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2.1</a:t>
                      </a:r>
                      <a:r>
                        <a:rPr sz="1200" spc="2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Background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2.2 Purpose</a:t>
                      </a:r>
                      <a:r>
                        <a:rPr sz="1200" spc="-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of</a:t>
                      </a:r>
                      <a:r>
                        <a:rPr sz="1200" spc="-4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the</a:t>
                      </a:r>
                      <a:r>
                        <a:rPr sz="1200" spc="-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Database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spc="-5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dirty="0">
                          <a:latin typeface="Times New Roman" pitchFamily="18" charset="0"/>
                          <a:cs typeface="Times New Roman" pitchFamily="18" charset="0"/>
                        </a:rPr>
                        <a:t>PROBLEM</a:t>
                      </a:r>
                      <a:r>
                        <a:rPr sz="1200" b="1" spc="-2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10" dirty="0">
                          <a:latin typeface="Times New Roman" pitchFamily="18" charset="0"/>
                          <a:cs typeface="Times New Roman" pitchFamily="18" charset="0"/>
                        </a:rPr>
                        <a:t>STATEMENT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5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10" dirty="0">
                          <a:latin typeface="Times New Roman" pitchFamily="18" charset="0"/>
                          <a:cs typeface="Times New Roman" pitchFamily="18" charset="0"/>
                        </a:rPr>
                        <a:t>OBJECTIVES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spc="-50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dirty="0">
                          <a:latin typeface="Times New Roman" pitchFamily="18" charset="0"/>
                          <a:cs typeface="Times New Roman" pitchFamily="18" charset="0"/>
                        </a:rPr>
                        <a:t>TOOLS</a:t>
                      </a:r>
                      <a:r>
                        <a:rPr sz="1200" b="1" spc="-3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latin typeface="Times New Roman" pitchFamily="18" charset="0"/>
                          <a:cs typeface="Times New Roman" pitchFamily="18" charset="0"/>
                        </a:rPr>
                        <a:t>&amp;</a:t>
                      </a:r>
                      <a:r>
                        <a:rPr sz="1200" b="1" spc="-2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latin typeface="Times New Roman" pitchFamily="18" charset="0"/>
                          <a:cs typeface="Times New Roman" pitchFamily="18" charset="0"/>
                        </a:rPr>
                        <a:t>TECHNOLOGIES</a:t>
                      </a:r>
                      <a:r>
                        <a:rPr sz="1200" b="1" spc="-3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20" dirty="0">
                          <a:latin typeface="Times New Roman" pitchFamily="18" charset="0"/>
                          <a:cs typeface="Times New Roman" pitchFamily="18" charset="0"/>
                        </a:rPr>
                        <a:t>USED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b="1" spc="-50" dirty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b="1" dirty="0">
                          <a:latin typeface="Times New Roman" pitchFamily="18" charset="0"/>
                          <a:cs typeface="Times New Roman" pitchFamily="18" charset="0"/>
                        </a:rPr>
                        <a:t>DATABASE</a:t>
                      </a:r>
                      <a:r>
                        <a:rPr sz="1200" b="1" spc="-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10" dirty="0">
                          <a:latin typeface="Times New Roman" pitchFamily="18" charset="0"/>
                          <a:cs typeface="Times New Roman" pitchFamily="18" charset="0"/>
                        </a:rPr>
                        <a:t>DESIGN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6.1</a:t>
                      </a:r>
                      <a:r>
                        <a:rPr sz="1200" spc="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Identified</a:t>
                      </a:r>
                      <a:r>
                        <a:rPr sz="1200" spc="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Entities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6.2</a:t>
                      </a:r>
                      <a:r>
                        <a:rPr sz="1200" spc="-1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Entity</a:t>
                      </a:r>
                      <a:r>
                        <a:rPr sz="1200" spc="-3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Attributes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6.3</a:t>
                      </a:r>
                      <a:r>
                        <a:rPr sz="1200" spc="1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ER</a:t>
                      </a:r>
                      <a:r>
                        <a:rPr sz="1200" spc="-2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Diagram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6.4</a:t>
                      </a:r>
                      <a:r>
                        <a:rPr sz="1200" spc="1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Relationships</a:t>
                      </a:r>
                      <a:r>
                        <a:rPr sz="1200" spc="3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&amp;</a:t>
                      </a:r>
                      <a:r>
                        <a:rPr sz="1200" spc="-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Cardinality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6.5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Relational</a:t>
                      </a:r>
                      <a:r>
                        <a:rPr sz="1200" spc="-4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Database</a:t>
                      </a:r>
                      <a:r>
                        <a:rPr sz="1200" spc="-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Schema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6.6</a:t>
                      </a:r>
                      <a:r>
                        <a:rPr sz="1200" spc="-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Primary</a:t>
                      </a: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&amp; Foreign </a:t>
                      </a:r>
                      <a:r>
                        <a:rPr sz="1200" spc="-20" dirty="0">
                          <a:latin typeface="Times New Roman" pitchFamily="18" charset="0"/>
                          <a:cs typeface="Times New Roman" pitchFamily="18" charset="0"/>
                        </a:rPr>
                        <a:t>Keys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lang="en-US" sz="1200" b="1" spc="-50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dirty="0">
                          <a:latin typeface="Times New Roman" pitchFamily="18" charset="0"/>
                          <a:cs typeface="Times New Roman" pitchFamily="18" charset="0"/>
                        </a:rPr>
                        <a:t>DATABASE</a:t>
                      </a:r>
                      <a:r>
                        <a:rPr sz="1200" b="1" spc="-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10" dirty="0">
                          <a:latin typeface="Times New Roman" pitchFamily="18" charset="0"/>
                          <a:cs typeface="Times New Roman" pitchFamily="18" charset="0"/>
                        </a:rPr>
                        <a:t>IMPLEMENTATION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19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7.1</a:t>
                      </a:r>
                      <a:r>
                        <a:rPr sz="1200" spc="-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DDL</a:t>
                      </a:r>
                      <a:r>
                        <a:rPr sz="1200" spc="-1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sz="1200" spc="-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Database </a:t>
                      </a: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and</a:t>
                      </a:r>
                      <a:r>
                        <a:rPr sz="1200" spc="-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Table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 Creation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19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7.2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Sample</a:t>
                      </a: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 Data</a:t>
                      </a:r>
                      <a:r>
                        <a:rPr sz="1200" spc="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–</a:t>
                      </a:r>
                      <a:r>
                        <a:rPr sz="1200" spc="1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DML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7.3</a:t>
                      </a:r>
                      <a:r>
                        <a:rPr sz="1200" spc="1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Constraints</a:t>
                      </a:r>
                      <a:r>
                        <a:rPr sz="1200" spc="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&amp;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Data</a:t>
                      </a:r>
                      <a:r>
                        <a:rPr sz="1200" spc="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Integrity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21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7.4 SQL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 Operations</a:t>
                      </a:r>
                      <a:r>
                        <a:rPr sz="1200" spc="1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&amp;</a:t>
                      </a:r>
                      <a:r>
                        <a:rPr sz="1200" spc="-2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Queries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25" dirty="0"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 pitchFamily="18" charset="0"/>
                          <a:cs typeface="Times New Roman" pitchFamily="18" charset="0"/>
                        </a:rPr>
                        <a:t>7.5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Sample</a:t>
                      </a:r>
                      <a:r>
                        <a:rPr sz="1200" spc="-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spc="-10" dirty="0">
                          <a:latin typeface="Times New Roman" pitchFamily="18" charset="0"/>
                          <a:cs typeface="Times New Roman" pitchFamily="18" charset="0"/>
                        </a:rPr>
                        <a:t>Outputs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lang="en-US" sz="1200" spc="-25" dirty="0" smtClean="0">
                          <a:latin typeface="Times New Roman" pitchFamily="18" charset="0"/>
                          <a:cs typeface="Times New Roman" pitchFamily="18" charset="0"/>
                        </a:rPr>
                        <a:t>24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spc="-50" dirty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dirty="0">
                          <a:latin typeface="Times New Roman" pitchFamily="18" charset="0"/>
                          <a:cs typeface="Times New Roman" pitchFamily="18" charset="0"/>
                        </a:rPr>
                        <a:t>MODULES</a:t>
                      </a:r>
                      <a:r>
                        <a:rPr sz="1200" b="1" spc="-1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latin typeface="Times New Roman" pitchFamily="18" charset="0"/>
                          <a:cs typeface="Times New Roman" pitchFamily="18" charset="0"/>
                        </a:rPr>
                        <a:t>&amp;</a:t>
                      </a:r>
                      <a:r>
                        <a:rPr sz="1200" b="1" spc="-2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10" dirty="0">
                          <a:latin typeface="Times New Roman" pitchFamily="18" charset="0"/>
                          <a:cs typeface="Times New Roman" pitchFamily="18" charset="0"/>
                        </a:rPr>
                        <a:t>FUNCTIONALITIES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spc="-50" dirty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dirty="0">
                          <a:latin typeface="Times New Roman" pitchFamily="18" charset="0"/>
                          <a:cs typeface="Times New Roman" pitchFamily="18" charset="0"/>
                        </a:rPr>
                        <a:t>GITHUB</a:t>
                      </a:r>
                      <a:r>
                        <a:rPr sz="1200" b="1" spc="-1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latin typeface="Times New Roman" pitchFamily="18" charset="0"/>
                          <a:cs typeface="Times New Roman" pitchFamily="18" charset="0"/>
                        </a:rPr>
                        <a:t>REPOSITORY</a:t>
                      </a:r>
                      <a:r>
                        <a:rPr sz="1200" b="1" spc="-2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latin typeface="Times New Roman" pitchFamily="18" charset="0"/>
                          <a:cs typeface="Times New Roman" pitchFamily="18" charset="0"/>
                        </a:rPr>
                        <a:t>&amp;</a:t>
                      </a:r>
                      <a:r>
                        <a:rPr sz="1200" b="1" spc="-1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latin typeface="Times New Roman" pitchFamily="18" charset="0"/>
                          <a:cs typeface="Times New Roman" pitchFamily="18" charset="0"/>
                        </a:rPr>
                        <a:t>TEAM</a:t>
                      </a:r>
                      <a:r>
                        <a:rPr sz="1200" b="1" spc="-10" dirty="0">
                          <a:latin typeface="Times New Roman" pitchFamily="18" charset="0"/>
                          <a:cs typeface="Times New Roman" pitchFamily="18" charset="0"/>
                        </a:rPr>
                        <a:t> RESPONSIBILITIES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25" dirty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dirty="0">
                          <a:latin typeface="Times New Roman" pitchFamily="18" charset="0"/>
                          <a:cs typeface="Times New Roman" pitchFamily="18" charset="0"/>
                        </a:rPr>
                        <a:t>ENHANCEMENTS</a:t>
                      </a:r>
                      <a:r>
                        <a:rPr sz="1200" b="1" spc="-2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latin typeface="Times New Roman" pitchFamily="18" charset="0"/>
                          <a:cs typeface="Times New Roman" pitchFamily="18" charset="0"/>
                        </a:rPr>
                        <a:t>&amp;</a:t>
                      </a:r>
                      <a:r>
                        <a:rPr sz="1200" b="1" spc="-2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dirty="0">
                          <a:latin typeface="Times New Roman" pitchFamily="18" charset="0"/>
                          <a:cs typeface="Times New Roman" pitchFamily="18" charset="0"/>
                        </a:rPr>
                        <a:t>FUTURE</a:t>
                      </a:r>
                      <a:r>
                        <a:rPr sz="1200" b="1" spc="-3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200" b="1" spc="-10" dirty="0">
                          <a:latin typeface="Times New Roman" pitchFamily="18" charset="0"/>
                          <a:cs typeface="Times New Roman" pitchFamily="18" charset="0"/>
                        </a:rPr>
                        <a:t>IMPROVEMENTS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25" dirty="0"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10" dirty="0">
                          <a:latin typeface="Times New Roman" pitchFamily="18" charset="0"/>
                          <a:cs typeface="Times New Roman" pitchFamily="18" charset="0"/>
                        </a:rPr>
                        <a:t>CONCLUSION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27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b="1" spc="-25" dirty="0"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b="1" spc="-10" dirty="0">
                          <a:latin typeface="Times New Roman" pitchFamily="18" charset="0"/>
                          <a:cs typeface="Times New Roman" pitchFamily="18" charset="0"/>
                        </a:rPr>
                        <a:t>REFERENCES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lang="en-US" sz="1200" spc="-25" dirty="0" smtClean="0">
                          <a:latin typeface="Times New Roman" pitchFamily="18" charset="0"/>
                          <a:cs typeface="Times New Roman" pitchFamily="18" charset="0"/>
                        </a:rPr>
                        <a:t>27</a:t>
                      </a:r>
                      <a:endParaRPr sz="12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677426"/>
            <a:ext cx="5758180" cy="498792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223135">
              <a:lnSpc>
                <a:spcPct val="100000"/>
              </a:lnSpc>
              <a:spcBef>
                <a:spcPts val="1060"/>
              </a:spcBef>
            </a:pPr>
            <a:r>
              <a:rPr sz="1600" b="1" dirty="0">
                <a:latin typeface="Times New Roman"/>
                <a:cs typeface="Times New Roman"/>
              </a:rPr>
              <a:t>1.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ABSTRACT</a:t>
            </a:r>
            <a:endParaRPr sz="1600">
              <a:latin typeface="Times New Roman"/>
              <a:cs typeface="Times New Roman"/>
            </a:endParaRPr>
          </a:p>
          <a:p>
            <a:pPr marL="12700" marR="9525" algn="just">
              <a:lnSpc>
                <a:spcPct val="144000"/>
              </a:lnSpc>
              <a:spcBef>
                <a:spcPts val="75"/>
              </a:spcBef>
            </a:pP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1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Library</a:t>
            </a:r>
            <a:r>
              <a:rPr sz="1200" b="1" spc="1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Management</a:t>
            </a:r>
            <a:r>
              <a:rPr sz="1200" b="1" spc="1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b="1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relational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 its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members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borrowing 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returning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activities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efficiently.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stores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links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details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publishers,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librarians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loan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are </a:t>
            </a:r>
            <a:r>
              <a:rPr sz="1200" dirty="0">
                <a:latin typeface="Times New Roman"/>
                <a:cs typeface="Times New Roman"/>
              </a:rPr>
              <a:t>otherwise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manual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separate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records.</a:t>
            </a:r>
            <a:endParaRPr sz="12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43800"/>
              </a:lnSpc>
              <a:spcBef>
                <a:spcPts val="98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five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entities: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Book,</a:t>
            </a:r>
            <a:r>
              <a:rPr sz="1200" b="1" spc="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Member,</a:t>
            </a:r>
            <a:r>
              <a:rPr sz="1200" b="1" spc="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Librarian,</a:t>
            </a:r>
            <a:r>
              <a:rPr sz="1200" b="1" spc="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Loan</a:t>
            </a:r>
            <a:r>
              <a:rPr sz="1200" b="1" spc="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Publisher</a:t>
            </a:r>
            <a:r>
              <a:rPr sz="1200" spc="-10" dirty="0">
                <a:latin typeface="Times New Roman"/>
                <a:cs typeface="Times New Roman"/>
              </a:rPr>
              <a:t>, </a:t>
            </a:r>
            <a:r>
              <a:rPr sz="1200" dirty="0">
                <a:latin typeface="Times New Roman"/>
                <a:cs typeface="Times New Roman"/>
              </a:rPr>
              <a:t>connected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one-to-many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relationships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implemented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foreign </a:t>
            </a:r>
            <a:r>
              <a:rPr sz="1200" dirty="0">
                <a:latin typeface="Times New Roman"/>
                <a:cs typeface="Times New Roman"/>
              </a:rPr>
              <a:t>keys.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integrity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protected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PRIMARY</a:t>
            </a:r>
            <a:r>
              <a:rPr sz="1200" b="1" spc="1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KEY,</a:t>
            </a:r>
            <a:r>
              <a:rPr sz="1200" b="1" spc="1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FOREIGN</a:t>
            </a:r>
            <a:r>
              <a:rPr sz="1200" b="1" spc="1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KEY,</a:t>
            </a:r>
            <a:r>
              <a:rPr sz="1200" b="1" spc="1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NOT</a:t>
            </a:r>
            <a:r>
              <a:rPr sz="1200" b="1" spc="1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NULL, </a:t>
            </a:r>
            <a:r>
              <a:rPr sz="1200" b="1" dirty="0">
                <a:latin typeface="Times New Roman"/>
                <a:cs typeface="Times New Roman"/>
              </a:rPr>
              <a:t>UNIQUE,</a:t>
            </a:r>
            <a:r>
              <a:rPr sz="1200" b="1" spc="3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DEFAULT</a:t>
            </a:r>
            <a:r>
              <a:rPr sz="1200" b="1" spc="3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3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CHECK</a:t>
            </a:r>
            <a:r>
              <a:rPr sz="1200" b="1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constraints,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duplicate,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missing,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invalid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or </a:t>
            </a:r>
            <a:r>
              <a:rPr sz="1200" dirty="0">
                <a:latin typeface="Times New Roman"/>
                <a:cs typeface="Times New Roman"/>
              </a:rPr>
              <a:t>orphaned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records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controlled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itself.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  <a:spcBef>
                <a:spcPts val="100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inventory management,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registration,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issue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return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books,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tracking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dates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availability.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implemented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exercised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DDL,</a:t>
            </a:r>
            <a:r>
              <a:rPr sz="1200" b="1" spc="1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DML</a:t>
            </a:r>
            <a:r>
              <a:rPr sz="1200" b="1" spc="1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1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DQL</a:t>
            </a:r>
            <a:r>
              <a:rPr sz="1200" b="1" spc="1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operations,</a:t>
            </a:r>
            <a:r>
              <a:rPr sz="1200" b="1" spc="1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CRUD</a:t>
            </a:r>
            <a:r>
              <a:rPr sz="1200" b="1" spc="1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operations</a:t>
            </a:r>
            <a:r>
              <a:rPr sz="1200" b="1" spc="114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1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join</a:t>
            </a:r>
            <a:r>
              <a:rPr sz="1200" b="1" spc="1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queries</a:t>
            </a:r>
            <a:r>
              <a:rPr sz="1200" b="1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books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currently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issued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overdue.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Sample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records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inserted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all </a:t>
            </a:r>
            <a:r>
              <a:rPr sz="1200" dirty="0">
                <a:latin typeface="Times New Roman"/>
                <a:cs typeface="Times New Roman"/>
              </a:rPr>
              <a:t>five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tables.</a:t>
            </a:r>
            <a:endParaRPr sz="1200">
              <a:latin typeface="Times New Roman"/>
              <a:cs typeface="Times New Roman"/>
            </a:endParaRPr>
          </a:p>
          <a:p>
            <a:pPr marL="12700" marR="12700" algn="just">
              <a:lnSpc>
                <a:spcPct val="143300"/>
              </a:lnSpc>
              <a:spcBef>
                <a:spcPts val="1005"/>
              </a:spcBef>
            </a:pPr>
            <a:r>
              <a:rPr sz="1200" b="1" dirty="0">
                <a:latin typeface="Times New Roman"/>
                <a:cs typeface="Times New Roman"/>
              </a:rPr>
              <a:t>Keywords:</a:t>
            </a:r>
            <a:r>
              <a:rPr sz="1200" b="1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Relational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Database,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Management,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Diagram,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Key,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Foreign </a:t>
            </a:r>
            <a:r>
              <a:rPr sz="1200" dirty="0">
                <a:latin typeface="Times New Roman"/>
                <a:cs typeface="Times New Roman"/>
              </a:rPr>
              <a:t>Key,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Constraints,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CRUD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>
                <a:latin typeface="Times New Roman"/>
                <a:cs typeface="Times New Roman"/>
              </a:rPr>
              <a:t>Operations</a:t>
            </a:r>
            <a:r>
              <a:rPr sz="1200" spc="-10" smtClean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3314" y="798322"/>
            <a:ext cx="17786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LIST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 </a:t>
            </a:r>
            <a:r>
              <a:rPr sz="1600" b="1" spc="-10" dirty="0">
                <a:latin typeface="Times New Roman"/>
                <a:cs typeface="Times New Roman"/>
              </a:rPr>
              <a:t>FIGURES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185925"/>
          <a:ext cx="5730874" cy="17754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6135"/>
                <a:gridCol w="4018279"/>
                <a:gridCol w="886460"/>
              </a:tblGrid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Figure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Figure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6.3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Diagram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Library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Management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6.5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Relational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Schema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Library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Management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Structure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 Book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table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Structure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Publisher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table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Structure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Member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table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Structure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table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smtClean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942082" y="3267836"/>
            <a:ext cx="167767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LIST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TABLES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3658488"/>
          <a:ext cx="5730874" cy="3045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6135"/>
                <a:gridCol w="4018279"/>
                <a:gridCol w="886460"/>
              </a:tblGrid>
              <a:tr h="2362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Table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D9E1F3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D9E1F3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TOOLS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TECHNOLOGIES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USED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D9E1F3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D9E1F3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6.1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Identified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Entities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6.2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Entity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Attributes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6.4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Relationships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Cardinality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6.5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Relational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Schema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6.6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Primary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Foreign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Keys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7.2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Sample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DML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7.3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Constraints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Integrity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7.4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SQL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Operations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Queries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MODULES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FUNCTIONALITIES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GITHUB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REPOSITORY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TEAM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RESPONSIBILITIES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655844"/>
            <a:ext cx="5760085" cy="8355621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964055">
              <a:lnSpc>
                <a:spcPct val="100000"/>
              </a:lnSpc>
              <a:spcBef>
                <a:spcPts val="1205"/>
              </a:spcBef>
            </a:pPr>
            <a:r>
              <a:rPr sz="1600" b="1" dirty="0">
                <a:latin typeface="Times New Roman"/>
                <a:cs typeface="Times New Roman"/>
              </a:rPr>
              <a:t>2.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INTRODUCTION</a:t>
            </a:r>
            <a:endParaRPr sz="1600">
              <a:latin typeface="Times New Roman"/>
              <a:cs typeface="Times New Roman"/>
            </a:endParaRPr>
          </a:p>
          <a:p>
            <a:pPr marL="280035" lvl="1" indent="-267335" algn="just">
              <a:lnSpc>
                <a:spcPct val="100000"/>
              </a:lnSpc>
              <a:spcBef>
                <a:spcPts val="945"/>
              </a:spcBef>
              <a:buFont typeface="Times New Roman"/>
              <a:buAutoNum type="arabicPeriod"/>
              <a:tabLst>
                <a:tab pos="280035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Background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ts val="206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books,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borrowing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every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day. </a:t>
            </a:r>
            <a:r>
              <a:rPr sz="1200" dirty="0">
                <a:latin typeface="Times New Roman"/>
                <a:cs typeface="Times New Roman"/>
              </a:rPr>
              <a:t>Traditional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rely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manual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record-keeping,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time-</a:t>
            </a:r>
            <a:r>
              <a:rPr sz="1200" dirty="0">
                <a:latin typeface="Times New Roman"/>
                <a:cs typeface="Times New Roman"/>
              </a:rPr>
              <a:t>consuming,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error-</a:t>
            </a:r>
            <a:endParaRPr sz="1200">
              <a:latin typeface="Times New Roman"/>
              <a:cs typeface="Times New Roman"/>
            </a:endParaRPr>
          </a:p>
          <a:p>
            <a:pPr marL="12700" marR="8255" algn="just">
              <a:lnSpc>
                <a:spcPts val="2060"/>
              </a:lnSpc>
              <a:spcBef>
                <a:spcPts val="30"/>
              </a:spcBef>
            </a:pPr>
            <a:r>
              <a:rPr sz="1200" dirty="0">
                <a:latin typeface="Times New Roman"/>
                <a:cs typeface="Times New Roman"/>
              </a:rPr>
              <a:t>prone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difficult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scale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grow.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relational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3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required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way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maintain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spc="-10" dirty="0">
                <a:latin typeface="Times New Roman"/>
                <a:cs typeface="Times New Roman"/>
              </a:rPr>
              <a:t>relationships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>
                <a:latin typeface="Times New Roman"/>
                <a:cs typeface="Times New Roman"/>
              </a:rPr>
              <a:t>different</a:t>
            </a:r>
            <a:r>
              <a:rPr sz="1200" spc="5">
                <a:latin typeface="Times New Roman"/>
                <a:cs typeface="Times New Roman"/>
              </a:rPr>
              <a:t> </a:t>
            </a:r>
            <a:r>
              <a:rPr sz="1200" spc="-10" smtClean="0">
                <a:latin typeface="Times New Roman"/>
                <a:cs typeface="Times New Roman"/>
              </a:rPr>
              <a:t>records.</a:t>
            </a:r>
            <a:r>
              <a:rPr lang="en-US" sz="1200" spc="-10" dirty="0">
                <a:latin typeface="Times New Roman"/>
                <a:cs typeface="Times New Roman"/>
              </a:rPr>
              <a:t> </a:t>
            </a:r>
            <a:r>
              <a:rPr sz="1200" smtClean="0">
                <a:latin typeface="Times New Roman"/>
                <a:cs typeface="Times New Roman"/>
              </a:rPr>
              <a:t>In</a:t>
            </a:r>
            <a:r>
              <a:rPr sz="1200" spc="100" smtClean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domain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represented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five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related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tables: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Book,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Member, </a:t>
            </a:r>
            <a:r>
              <a:rPr sz="1200" dirty="0">
                <a:latin typeface="Times New Roman"/>
                <a:cs typeface="Times New Roman"/>
              </a:rPr>
              <a:t>Librarian,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Loan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Publisher.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schema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separates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appropriate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entities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uses </a:t>
            </a:r>
            <a:r>
              <a:rPr sz="1200" dirty="0">
                <a:latin typeface="Times New Roman"/>
                <a:cs typeface="Times New Roman"/>
              </a:rPr>
              <a:t>keys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constraints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reduce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duplication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protect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integrity.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queries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used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insert,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retrieve,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delete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>
                <a:latin typeface="Times New Roman"/>
                <a:cs typeface="Times New Roman"/>
              </a:rPr>
              <a:t>information</a:t>
            </a:r>
            <a:r>
              <a:rPr sz="1200" spc="-10" smtClean="0">
                <a:latin typeface="Times New Roman"/>
                <a:cs typeface="Times New Roman"/>
              </a:rPr>
              <a:t>.</a:t>
            </a:r>
            <a:endParaRPr lang="en-US" sz="1200" spc="-10" dirty="0">
              <a:latin typeface="Times New Roman"/>
              <a:cs typeface="Times New Roman"/>
            </a:endParaRPr>
          </a:p>
          <a:p>
            <a:pPr marL="12700" marR="8255" algn="just">
              <a:lnSpc>
                <a:spcPts val="2060"/>
              </a:lnSpc>
              <a:spcBef>
                <a:spcPts val="30"/>
              </a:spcBef>
            </a:pPr>
            <a:endParaRPr sz="1200">
              <a:latin typeface="Times New Roman"/>
              <a:cs typeface="Times New Roman"/>
            </a:endParaRPr>
          </a:p>
          <a:p>
            <a:pPr marL="280035" lvl="1" indent="-267335" algn="just">
              <a:lnSpc>
                <a:spcPct val="100000"/>
              </a:lnSpc>
              <a:buFont typeface="Times New Roman"/>
              <a:buAutoNum type="arabicPeriod" startAt="2"/>
              <a:tabLst>
                <a:tab pos="280035" algn="l"/>
              </a:tabLst>
            </a:pPr>
            <a:r>
              <a:rPr sz="1400" b="1" dirty="0">
                <a:latin typeface="Times New Roman"/>
                <a:cs typeface="Times New Roman"/>
              </a:rPr>
              <a:t>Purpose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Database</a:t>
            </a:r>
            <a:endParaRPr sz="1400">
              <a:latin typeface="Times New Roman"/>
              <a:cs typeface="Times New Roman"/>
            </a:endParaRPr>
          </a:p>
          <a:p>
            <a:pPr marL="12700" marR="6350" algn="just">
              <a:lnSpc>
                <a:spcPts val="2070"/>
              </a:lnSpc>
              <a:spcBef>
                <a:spcPts val="6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centralized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managing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inventory, publisher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details, member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registration, librarian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details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issue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return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books.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staff </a:t>
            </a:r>
            <a:r>
              <a:rPr sz="1200" dirty="0">
                <a:latin typeface="Times New Roman"/>
                <a:cs typeface="Times New Roman"/>
              </a:rPr>
              <a:t>who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currently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issued,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borrowed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them, when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due</a:t>
            </a:r>
            <a:endParaRPr sz="1200">
              <a:latin typeface="Times New Roman"/>
              <a:cs typeface="Times New Roman"/>
            </a:endParaRPr>
          </a:p>
          <a:p>
            <a:pPr marL="12700" marR="15240" algn="just">
              <a:lnSpc>
                <a:spcPts val="2060"/>
              </a:lnSpc>
            </a:pP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 books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 overdue.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relationships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 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related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joins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instead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maintaining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>
                <a:latin typeface="Times New Roman"/>
                <a:cs typeface="Times New Roman"/>
              </a:rPr>
              <a:t>disconnected</a:t>
            </a:r>
            <a:r>
              <a:rPr sz="1200" spc="-15">
                <a:latin typeface="Times New Roman"/>
                <a:cs typeface="Times New Roman"/>
              </a:rPr>
              <a:t> </a:t>
            </a:r>
            <a:r>
              <a:rPr sz="1200" spc="-10" smtClean="0">
                <a:latin typeface="Times New Roman"/>
                <a:cs typeface="Times New Roman"/>
              </a:rPr>
              <a:t>records.</a:t>
            </a:r>
            <a:endParaRPr lang="en-US" sz="1200" spc="-10" dirty="0" smtClean="0">
              <a:latin typeface="Times New Roman"/>
              <a:cs typeface="Times New Roman"/>
            </a:endParaRPr>
          </a:p>
          <a:p>
            <a:pPr marL="12700" marR="15240" algn="just">
              <a:lnSpc>
                <a:spcPts val="2060"/>
              </a:lnSpc>
            </a:pPr>
            <a:endParaRPr lang="en-US" sz="1200" spc="-10" dirty="0">
              <a:latin typeface="Times New Roman"/>
              <a:cs typeface="Times New Roman"/>
            </a:endParaRPr>
          </a:p>
          <a:p>
            <a:pPr marL="12700" marR="15240" algn="just">
              <a:lnSpc>
                <a:spcPts val="2060"/>
              </a:lnSpc>
            </a:pPr>
            <a:r>
              <a:rPr lang="en-US" sz="1400" b="1" dirty="0" smtClean="0">
                <a:latin typeface="Times New Roman"/>
                <a:cs typeface="Times New Roman"/>
              </a:rPr>
              <a:t>3</a:t>
            </a:r>
            <a:r>
              <a:rPr lang="en-US" sz="1600" b="1" dirty="0" smtClean="0">
                <a:latin typeface="Times New Roman"/>
                <a:cs typeface="Times New Roman"/>
              </a:rPr>
              <a:t>.</a:t>
            </a:r>
            <a:r>
              <a:rPr lang="en-US" sz="1600" b="1" spc="-25" dirty="0" smtClean="0">
                <a:latin typeface="Times New Roman"/>
                <a:cs typeface="Times New Roman"/>
              </a:rPr>
              <a:t> </a:t>
            </a:r>
            <a:r>
              <a:rPr lang="en-US" sz="1400" b="1" dirty="0" smtClean="0">
                <a:latin typeface="Times New Roman"/>
                <a:cs typeface="Times New Roman"/>
              </a:rPr>
              <a:t>PROBLEM</a:t>
            </a:r>
            <a:r>
              <a:rPr lang="en-US" sz="1400" b="1" spc="-30" dirty="0" smtClean="0">
                <a:latin typeface="Times New Roman"/>
                <a:cs typeface="Times New Roman"/>
              </a:rPr>
              <a:t> </a:t>
            </a:r>
            <a:r>
              <a:rPr lang="en-US" sz="1400" b="1" spc="-10" dirty="0" smtClean="0">
                <a:latin typeface="Times New Roman"/>
                <a:cs typeface="Times New Roman"/>
              </a:rPr>
              <a:t>STATEMENT</a:t>
            </a:r>
            <a:endParaRPr lang="en-US" sz="1400" dirty="0" smtClean="0">
              <a:latin typeface="Times New Roman"/>
              <a:cs typeface="Times New Roman"/>
            </a:endParaRPr>
          </a:p>
          <a:p>
            <a:pPr marL="12700" marR="8890" algn="just">
              <a:lnSpc>
                <a:spcPct val="143400"/>
              </a:lnSpc>
              <a:spcBef>
                <a:spcPts val="85"/>
              </a:spcBef>
            </a:pPr>
            <a:r>
              <a:rPr lang="en-US" sz="1200" spc="-10" dirty="0" smtClean="0">
                <a:latin typeface="Times New Roman"/>
                <a:cs typeface="Times New Roman"/>
              </a:rPr>
              <a:t>Traditional</a:t>
            </a:r>
            <a:r>
              <a:rPr lang="en-US" sz="1200" spc="-30" dirty="0" smtClean="0">
                <a:latin typeface="Times New Roman"/>
                <a:cs typeface="Times New Roman"/>
              </a:rPr>
              <a:t> </a:t>
            </a:r>
            <a:r>
              <a:rPr lang="en-US" sz="1200" spc="-20" dirty="0" smtClean="0">
                <a:latin typeface="Times New Roman"/>
                <a:cs typeface="Times New Roman"/>
              </a:rPr>
              <a:t>library</a:t>
            </a:r>
            <a:r>
              <a:rPr lang="en-US" sz="1200" spc="-45" dirty="0" smtClean="0">
                <a:latin typeface="Times New Roman"/>
                <a:cs typeface="Times New Roman"/>
              </a:rPr>
              <a:t> </a:t>
            </a:r>
            <a:r>
              <a:rPr lang="en-US" sz="1200" spc="-10" dirty="0" smtClean="0">
                <a:latin typeface="Times New Roman"/>
                <a:cs typeface="Times New Roman"/>
              </a:rPr>
              <a:t>systems</a:t>
            </a:r>
            <a:r>
              <a:rPr lang="en-US" sz="1200" spc="-30" dirty="0" smtClean="0">
                <a:latin typeface="Times New Roman"/>
                <a:cs typeface="Times New Roman"/>
              </a:rPr>
              <a:t> </a:t>
            </a:r>
            <a:r>
              <a:rPr lang="en-US" sz="1200" spc="-20" dirty="0" smtClean="0">
                <a:latin typeface="Times New Roman"/>
                <a:cs typeface="Times New Roman"/>
              </a:rPr>
              <a:t>rely</a:t>
            </a:r>
            <a:r>
              <a:rPr lang="en-US" sz="1200" spc="-5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on</a:t>
            </a:r>
            <a:r>
              <a:rPr lang="en-US" sz="1200" spc="-35" dirty="0" smtClean="0"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latin typeface="Times New Roman"/>
                <a:cs typeface="Times New Roman"/>
              </a:rPr>
              <a:t>manual</a:t>
            </a:r>
            <a:r>
              <a:rPr lang="en-US" sz="1200" b="1" spc="-45" dirty="0" smtClean="0"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latin typeface="Times New Roman"/>
                <a:cs typeface="Times New Roman"/>
              </a:rPr>
              <a:t>record-keeping, </a:t>
            </a:r>
            <a:r>
              <a:rPr lang="en-US" sz="1200" b="1" dirty="0" smtClean="0">
                <a:latin typeface="Times New Roman"/>
                <a:cs typeface="Times New Roman"/>
              </a:rPr>
              <a:t>which</a:t>
            </a:r>
            <a:r>
              <a:rPr lang="en-US" sz="1200" b="1" spc="-15" dirty="0" smtClean="0">
                <a:latin typeface="Times New Roman"/>
                <a:cs typeface="Times New Roman"/>
              </a:rPr>
              <a:t> </a:t>
            </a:r>
            <a:r>
              <a:rPr lang="en-US" sz="1200" b="1" spc="-20" dirty="0" smtClean="0">
                <a:latin typeface="Times New Roman"/>
                <a:cs typeface="Times New Roman"/>
              </a:rPr>
              <a:t>is</a:t>
            </a:r>
            <a:r>
              <a:rPr lang="en-US" sz="1200" b="1" spc="-55" dirty="0" smtClean="0">
                <a:latin typeface="Times New Roman"/>
                <a:cs typeface="Times New Roman"/>
              </a:rPr>
              <a:t> </a:t>
            </a:r>
            <a:r>
              <a:rPr lang="en-US" sz="1200" b="1" spc="-10" dirty="0" smtClean="0">
                <a:latin typeface="Times New Roman"/>
                <a:cs typeface="Times New Roman"/>
              </a:rPr>
              <a:t>time-consuming, error-</a:t>
            </a:r>
            <a:r>
              <a:rPr lang="en-US" sz="1200" b="1" dirty="0" smtClean="0">
                <a:latin typeface="Times New Roman"/>
                <a:cs typeface="Times New Roman"/>
              </a:rPr>
              <a:t>prone</a:t>
            </a:r>
            <a:r>
              <a:rPr lang="en-US" sz="1200" b="1" spc="60" dirty="0" smtClean="0">
                <a:latin typeface="Times New Roman"/>
                <a:cs typeface="Times New Roman"/>
              </a:rPr>
              <a:t> </a:t>
            </a:r>
            <a:r>
              <a:rPr lang="en-US" sz="1200" b="1" dirty="0" smtClean="0">
                <a:latin typeface="Times New Roman"/>
                <a:cs typeface="Times New Roman"/>
              </a:rPr>
              <a:t>and</a:t>
            </a:r>
            <a:r>
              <a:rPr lang="en-US" sz="1200" b="1" spc="50" dirty="0" smtClean="0">
                <a:latin typeface="Times New Roman"/>
                <a:cs typeface="Times New Roman"/>
              </a:rPr>
              <a:t> </a:t>
            </a:r>
            <a:r>
              <a:rPr lang="en-US" sz="1200" b="1" dirty="0" smtClean="0">
                <a:latin typeface="Times New Roman"/>
                <a:cs typeface="Times New Roman"/>
              </a:rPr>
              <a:t>difficult</a:t>
            </a:r>
            <a:r>
              <a:rPr lang="en-US" sz="1200" b="1" spc="70" dirty="0" smtClean="0">
                <a:latin typeface="Times New Roman"/>
                <a:cs typeface="Times New Roman"/>
              </a:rPr>
              <a:t> </a:t>
            </a:r>
            <a:r>
              <a:rPr lang="en-US" sz="1200" b="1" dirty="0" smtClean="0">
                <a:latin typeface="Times New Roman"/>
                <a:cs typeface="Times New Roman"/>
              </a:rPr>
              <a:t>to</a:t>
            </a:r>
            <a:r>
              <a:rPr lang="en-US" sz="1200" b="1" spc="70" dirty="0" smtClean="0">
                <a:latin typeface="Times New Roman"/>
                <a:cs typeface="Times New Roman"/>
              </a:rPr>
              <a:t> </a:t>
            </a:r>
            <a:r>
              <a:rPr lang="en-US" sz="1200" b="1" dirty="0" smtClean="0">
                <a:latin typeface="Times New Roman"/>
                <a:cs typeface="Times New Roman"/>
              </a:rPr>
              <a:t>scale</a:t>
            </a:r>
            <a:r>
              <a:rPr lang="en-US" sz="1200" dirty="0" smtClean="0">
                <a:latin typeface="Times New Roman"/>
                <a:cs typeface="Times New Roman"/>
              </a:rPr>
              <a:t>.</a:t>
            </a:r>
            <a:r>
              <a:rPr lang="en-US" sz="1200" spc="7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There</a:t>
            </a:r>
            <a:r>
              <a:rPr lang="en-US" sz="1200" spc="6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is</a:t>
            </a:r>
            <a:r>
              <a:rPr lang="en-US" sz="1200" spc="60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a</a:t>
            </a:r>
            <a:r>
              <a:rPr lang="en-US" sz="1200" spc="60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need</a:t>
            </a:r>
            <a:r>
              <a:rPr lang="en-US" sz="1200" spc="70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for</a:t>
            </a:r>
            <a:r>
              <a:rPr lang="en-US" sz="1200" spc="50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a</a:t>
            </a:r>
            <a:r>
              <a:rPr lang="en-US" sz="1200" spc="6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computerized</a:t>
            </a:r>
            <a:r>
              <a:rPr lang="en-US" sz="1200" spc="70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system</a:t>
            </a:r>
            <a:r>
              <a:rPr lang="en-US" sz="1200" spc="2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that</a:t>
            </a:r>
            <a:r>
              <a:rPr lang="en-US" sz="1200" spc="6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can</a:t>
            </a:r>
            <a:r>
              <a:rPr lang="en-US" sz="1200" spc="45" dirty="0" smtClean="0">
                <a:latin typeface="Times New Roman"/>
                <a:cs typeface="Times New Roman"/>
              </a:rPr>
              <a:t> </a:t>
            </a:r>
            <a:r>
              <a:rPr lang="en-US" sz="1200" spc="-10" dirty="0" smtClean="0">
                <a:latin typeface="Times New Roman"/>
                <a:cs typeface="Times New Roman"/>
              </a:rPr>
              <a:t>efficiently </a:t>
            </a:r>
            <a:r>
              <a:rPr lang="en-US" sz="1200" dirty="0" smtClean="0">
                <a:latin typeface="Times New Roman"/>
                <a:cs typeface="Times New Roman"/>
              </a:rPr>
              <a:t>manage books,</a:t>
            </a:r>
            <a:r>
              <a:rPr lang="en-US" sz="1200" spc="-30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members</a:t>
            </a:r>
            <a:r>
              <a:rPr lang="en-US" sz="1200" spc="-2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and</a:t>
            </a:r>
            <a:r>
              <a:rPr lang="en-US" sz="1200" spc="-1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transactions</a:t>
            </a:r>
            <a:r>
              <a:rPr lang="en-US" sz="1200" spc="-2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while </a:t>
            </a:r>
            <a:r>
              <a:rPr lang="en-US" sz="1200" spc="-10" dirty="0" smtClean="0">
                <a:latin typeface="Times New Roman"/>
                <a:cs typeface="Times New Roman"/>
              </a:rPr>
              <a:t>maintaining</a:t>
            </a:r>
            <a:r>
              <a:rPr lang="en-US" sz="1200" spc="-1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data</a:t>
            </a:r>
            <a:r>
              <a:rPr lang="en-US" sz="1200" spc="-20" dirty="0" smtClean="0">
                <a:latin typeface="Times New Roman"/>
                <a:cs typeface="Times New Roman"/>
              </a:rPr>
              <a:t> </a:t>
            </a:r>
            <a:r>
              <a:rPr lang="en-US" sz="1200" spc="-10" dirty="0" smtClean="0">
                <a:latin typeface="Times New Roman"/>
                <a:cs typeface="Times New Roman"/>
              </a:rPr>
              <a:t>accuracy</a:t>
            </a:r>
            <a:r>
              <a:rPr lang="en-US" sz="1200" spc="-6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and</a:t>
            </a:r>
            <a:r>
              <a:rPr lang="en-US" sz="1200" spc="5" dirty="0" smtClean="0">
                <a:latin typeface="Times New Roman"/>
                <a:cs typeface="Times New Roman"/>
              </a:rPr>
              <a:t> </a:t>
            </a:r>
            <a:r>
              <a:rPr lang="en-US" sz="1200" spc="-10" dirty="0" smtClean="0">
                <a:latin typeface="Times New Roman"/>
                <a:cs typeface="Times New Roman"/>
              </a:rPr>
              <a:t>integrity.</a:t>
            </a:r>
            <a:endParaRPr lang="en-US" sz="1200" dirty="0" smtClean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900"/>
              </a:lnSpc>
              <a:spcBef>
                <a:spcPts val="1000"/>
              </a:spcBef>
            </a:pPr>
            <a:r>
              <a:rPr lang="en-US" sz="1200" dirty="0" smtClean="0">
                <a:latin typeface="Times New Roman"/>
                <a:cs typeface="Times New Roman"/>
              </a:rPr>
              <a:t>The</a:t>
            </a:r>
            <a:r>
              <a:rPr lang="en-US" sz="1200" spc="-30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proposed</a:t>
            </a:r>
            <a:r>
              <a:rPr lang="en-US" sz="1200" spc="-2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system</a:t>
            </a:r>
            <a:r>
              <a:rPr lang="en-US" sz="1200" spc="-6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centralizes</a:t>
            </a:r>
            <a:r>
              <a:rPr lang="en-US" sz="1200" spc="-1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book,</a:t>
            </a:r>
            <a:r>
              <a:rPr lang="en-US" sz="1200" spc="-15" dirty="0" smtClean="0">
                <a:latin typeface="Times New Roman"/>
                <a:cs typeface="Times New Roman"/>
              </a:rPr>
              <a:t> </a:t>
            </a:r>
            <a:r>
              <a:rPr lang="en-US" sz="1200" spc="-10" dirty="0" smtClean="0">
                <a:latin typeface="Times New Roman"/>
                <a:cs typeface="Times New Roman"/>
              </a:rPr>
              <a:t>publisher,</a:t>
            </a:r>
            <a:r>
              <a:rPr lang="en-US" sz="1200" spc="-20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member,</a:t>
            </a:r>
            <a:r>
              <a:rPr lang="en-US" sz="1200" spc="10" dirty="0" smtClean="0">
                <a:latin typeface="Times New Roman"/>
                <a:cs typeface="Times New Roman"/>
              </a:rPr>
              <a:t> </a:t>
            </a:r>
            <a:r>
              <a:rPr lang="en-US" sz="1200" spc="-10" dirty="0" smtClean="0">
                <a:latin typeface="Times New Roman"/>
                <a:cs typeface="Times New Roman"/>
              </a:rPr>
              <a:t>librarian</a:t>
            </a:r>
            <a:r>
              <a:rPr lang="en-US" sz="1200" spc="-50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and</a:t>
            </a:r>
            <a:r>
              <a:rPr lang="en-US" sz="1200" spc="-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loan</a:t>
            </a:r>
            <a:r>
              <a:rPr lang="en-US" sz="1200" spc="-2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information</a:t>
            </a:r>
            <a:r>
              <a:rPr lang="en-US" sz="1200" spc="-25" dirty="0" smtClean="0">
                <a:latin typeface="Times New Roman"/>
                <a:cs typeface="Times New Roman"/>
              </a:rPr>
              <a:t> </a:t>
            </a:r>
            <a:r>
              <a:rPr lang="en-US" sz="1200" spc="-20" dirty="0" smtClean="0">
                <a:latin typeface="Times New Roman"/>
                <a:cs typeface="Times New Roman"/>
              </a:rPr>
              <a:t>into </a:t>
            </a:r>
            <a:r>
              <a:rPr lang="en-US" sz="1200" dirty="0" smtClean="0">
                <a:latin typeface="Times New Roman"/>
                <a:cs typeface="Times New Roman"/>
              </a:rPr>
              <a:t>a</a:t>
            </a:r>
            <a:r>
              <a:rPr lang="en-US" sz="1200" spc="100" dirty="0" smtClean="0">
                <a:latin typeface="Times New Roman"/>
                <a:cs typeface="Times New Roman"/>
              </a:rPr>
              <a:t> </a:t>
            </a:r>
            <a:r>
              <a:rPr lang="en-US" sz="1200" b="1" dirty="0" smtClean="0">
                <a:latin typeface="Times New Roman"/>
                <a:cs typeface="Times New Roman"/>
              </a:rPr>
              <a:t>single</a:t>
            </a:r>
            <a:r>
              <a:rPr lang="en-US" sz="1200" b="1" spc="120" dirty="0" smtClean="0">
                <a:latin typeface="Times New Roman"/>
                <a:cs typeface="Times New Roman"/>
              </a:rPr>
              <a:t> </a:t>
            </a:r>
            <a:r>
              <a:rPr lang="en-US" sz="1200" b="1" dirty="0" smtClean="0">
                <a:latin typeface="Times New Roman"/>
                <a:cs typeface="Times New Roman"/>
              </a:rPr>
              <a:t>relational</a:t>
            </a:r>
            <a:r>
              <a:rPr lang="en-US" sz="1200" b="1" spc="80" dirty="0" smtClean="0">
                <a:latin typeface="Times New Roman"/>
                <a:cs typeface="Times New Roman"/>
              </a:rPr>
              <a:t> </a:t>
            </a:r>
            <a:r>
              <a:rPr lang="en-US" sz="1200" b="1" dirty="0" smtClean="0">
                <a:latin typeface="Times New Roman"/>
                <a:cs typeface="Times New Roman"/>
              </a:rPr>
              <a:t>database</a:t>
            </a:r>
            <a:r>
              <a:rPr lang="en-US" sz="1200" dirty="0" smtClean="0">
                <a:latin typeface="Times New Roman"/>
                <a:cs typeface="Times New Roman"/>
              </a:rPr>
              <a:t>.</a:t>
            </a:r>
            <a:r>
              <a:rPr lang="en-US" sz="1200" spc="114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It</a:t>
            </a:r>
            <a:r>
              <a:rPr lang="en-US" sz="1200" spc="130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provides</a:t>
            </a:r>
            <a:r>
              <a:rPr lang="en-US" sz="1200" spc="9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structured</a:t>
            </a:r>
            <a:r>
              <a:rPr lang="en-US" sz="1200" spc="100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data</a:t>
            </a:r>
            <a:r>
              <a:rPr lang="en-US" sz="1200" spc="100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management,</a:t>
            </a:r>
            <a:r>
              <a:rPr lang="en-US" sz="1200" spc="114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referential</a:t>
            </a:r>
            <a:r>
              <a:rPr lang="en-US" sz="1200" spc="105" dirty="0" smtClean="0">
                <a:latin typeface="Times New Roman"/>
                <a:cs typeface="Times New Roman"/>
              </a:rPr>
              <a:t> </a:t>
            </a:r>
            <a:r>
              <a:rPr lang="en-US" sz="1200" spc="-10" dirty="0" smtClean="0">
                <a:latin typeface="Times New Roman"/>
                <a:cs typeface="Times New Roman"/>
              </a:rPr>
              <a:t>integrity, validation</a:t>
            </a:r>
            <a:r>
              <a:rPr lang="en-US" sz="1200" spc="-65" dirty="0" smtClean="0">
                <a:latin typeface="Times New Roman"/>
                <a:cs typeface="Times New Roman"/>
              </a:rPr>
              <a:t> </a:t>
            </a:r>
            <a:r>
              <a:rPr lang="en-US" sz="1200" spc="-10" dirty="0" smtClean="0">
                <a:latin typeface="Times New Roman"/>
                <a:cs typeface="Times New Roman"/>
              </a:rPr>
              <a:t>and</a:t>
            </a:r>
            <a:r>
              <a:rPr lang="en-US" sz="1200" spc="-6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SQL-</a:t>
            </a:r>
            <a:r>
              <a:rPr lang="en-US" sz="1200" spc="-10" dirty="0" smtClean="0">
                <a:latin typeface="Times New Roman"/>
                <a:cs typeface="Times New Roman"/>
              </a:rPr>
              <a:t>based</a:t>
            </a:r>
            <a:r>
              <a:rPr lang="en-US" sz="1200" spc="-65" dirty="0" smtClean="0">
                <a:latin typeface="Times New Roman"/>
                <a:cs typeface="Times New Roman"/>
              </a:rPr>
              <a:t> </a:t>
            </a:r>
            <a:r>
              <a:rPr lang="en-US" sz="1200" spc="-10" dirty="0" smtClean="0">
                <a:latin typeface="Times New Roman"/>
                <a:cs typeface="Times New Roman"/>
              </a:rPr>
              <a:t>querying</a:t>
            </a:r>
            <a:r>
              <a:rPr lang="en-US" sz="1200" spc="-4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so</a:t>
            </a:r>
            <a:r>
              <a:rPr lang="en-US" sz="1200" spc="-30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that</a:t>
            </a:r>
            <a:r>
              <a:rPr lang="en-US" sz="1200" spc="-20" dirty="0" smtClean="0">
                <a:latin typeface="Times New Roman"/>
                <a:cs typeface="Times New Roman"/>
              </a:rPr>
              <a:t> </a:t>
            </a:r>
            <a:r>
              <a:rPr lang="en-US" sz="1200" spc="-10" dirty="0" smtClean="0">
                <a:latin typeface="Times New Roman"/>
                <a:cs typeface="Times New Roman"/>
              </a:rPr>
              <a:t>library</a:t>
            </a:r>
            <a:r>
              <a:rPr lang="en-US" sz="1200" spc="-65" dirty="0" smtClean="0">
                <a:latin typeface="Times New Roman"/>
                <a:cs typeface="Times New Roman"/>
              </a:rPr>
              <a:t> </a:t>
            </a:r>
            <a:r>
              <a:rPr lang="en-US" sz="1200" spc="-10" dirty="0" smtClean="0">
                <a:latin typeface="Times New Roman"/>
                <a:cs typeface="Times New Roman"/>
              </a:rPr>
              <a:t>information</a:t>
            </a:r>
            <a:r>
              <a:rPr lang="en-US" sz="1200" spc="-6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can</a:t>
            </a:r>
            <a:r>
              <a:rPr lang="en-US" sz="1200" spc="-50" dirty="0" smtClean="0">
                <a:latin typeface="Times New Roman"/>
                <a:cs typeface="Times New Roman"/>
              </a:rPr>
              <a:t> </a:t>
            </a:r>
            <a:r>
              <a:rPr lang="en-US" sz="1200" spc="-10" dirty="0" smtClean="0">
                <a:latin typeface="Times New Roman"/>
                <a:cs typeface="Times New Roman"/>
              </a:rPr>
              <a:t>be</a:t>
            </a:r>
            <a:r>
              <a:rPr lang="en-US" sz="1200" spc="-50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stored,</a:t>
            </a:r>
            <a:r>
              <a:rPr lang="en-US" sz="1200" spc="-40" dirty="0" smtClean="0">
                <a:latin typeface="Times New Roman"/>
                <a:cs typeface="Times New Roman"/>
              </a:rPr>
              <a:t> </a:t>
            </a:r>
            <a:r>
              <a:rPr lang="en-US" sz="1200" spc="-10" dirty="0" smtClean="0">
                <a:latin typeface="Times New Roman"/>
                <a:cs typeface="Times New Roman"/>
              </a:rPr>
              <a:t>accessed,</a:t>
            </a:r>
            <a:r>
              <a:rPr lang="en-US" sz="1200" dirty="0" smtClean="0">
                <a:latin typeface="Times New Roman"/>
                <a:cs typeface="Times New Roman"/>
              </a:rPr>
              <a:t> </a:t>
            </a:r>
            <a:r>
              <a:rPr lang="en-US" sz="1200" spc="-10" dirty="0" smtClean="0">
                <a:latin typeface="Times New Roman"/>
                <a:cs typeface="Times New Roman"/>
              </a:rPr>
              <a:t>updated </a:t>
            </a:r>
            <a:r>
              <a:rPr lang="en-US" sz="1200" dirty="0" smtClean="0">
                <a:latin typeface="Times New Roman"/>
                <a:cs typeface="Times New Roman"/>
              </a:rPr>
              <a:t>and</a:t>
            </a:r>
            <a:r>
              <a:rPr lang="en-US" sz="1200" spc="-1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managed</a:t>
            </a:r>
            <a:r>
              <a:rPr lang="en-US" sz="1200" spc="-25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easily</a:t>
            </a:r>
            <a:r>
              <a:rPr lang="en-US" sz="1200" spc="-50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and</a:t>
            </a:r>
            <a:r>
              <a:rPr lang="en-US" sz="1200" spc="-30" dirty="0" smtClean="0">
                <a:latin typeface="Times New Roman"/>
                <a:cs typeface="Times New Roman"/>
              </a:rPr>
              <a:t> </a:t>
            </a:r>
            <a:r>
              <a:rPr lang="en-US" sz="1200" spc="-10" dirty="0" smtClean="0">
                <a:latin typeface="Times New Roman"/>
                <a:cs typeface="Times New Roman"/>
              </a:rPr>
              <a:t>efficiently.</a:t>
            </a:r>
            <a:endParaRPr lang="en-US" sz="1200" dirty="0" smtClean="0">
              <a:latin typeface="Times New Roman"/>
              <a:cs typeface="Times New Roman"/>
            </a:endParaRPr>
          </a:p>
          <a:p>
            <a:pPr marL="12700" marR="15240" algn="just">
              <a:lnSpc>
                <a:spcPts val="2060"/>
              </a:lnSpc>
            </a:pPr>
            <a:endParaRPr lang="en-US" sz="1200" spc="-10" dirty="0" smtClean="0">
              <a:latin typeface="Times New Roman"/>
              <a:cs typeface="Times New Roman"/>
            </a:endParaRPr>
          </a:p>
          <a:p>
            <a:pPr marL="12700" marR="15240" algn="just">
              <a:lnSpc>
                <a:spcPts val="2060"/>
              </a:lnSpc>
            </a:pPr>
            <a:endParaRPr lang="en-US" sz="1200" spc="-10" dirty="0">
              <a:latin typeface="Times New Roman"/>
              <a:cs typeface="Times New Roman"/>
            </a:endParaRPr>
          </a:p>
          <a:p>
            <a:pPr marL="12700" marR="15240" algn="just">
              <a:lnSpc>
                <a:spcPts val="2060"/>
              </a:lnSpc>
            </a:pP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677426"/>
            <a:ext cx="5528310" cy="293306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903095">
              <a:lnSpc>
                <a:spcPct val="100000"/>
              </a:lnSpc>
              <a:spcBef>
                <a:spcPts val="1060"/>
              </a:spcBef>
            </a:pPr>
            <a:r>
              <a:rPr sz="1600" b="1" dirty="0">
                <a:latin typeface="Times New Roman"/>
                <a:cs typeface="Times New Roman"/>
              </a:rPr>
              <a:t>4.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OBJECTIVES</a:t>
            </a:r>
            <a:endParaRPr sz="1600">
              <a:latin typeface="Times New Roman"/>
              <a:cs typeface="Times New Roman"/>
            </a:endParaRPr>
          </a:p>
          <a:p>
            <a:pPr marL="241300" marR="5080" indent="-229235">
              <a:lnSpc>
                <a:spcPct val="110000"/>
              </a:lnSpc>
              <a:spcBef>
                <a:spcPts val="565"/>
              </a:spcBef>
              <a:buFont typeface="Times New Roman"/>
              <a:buChar char="•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Identify</a:t>
            </a:r>
            <a:r>
              <a:rPr sz="1200" b="1" spc="1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Entities</a:t>
            </a:r>
            <a:r>
              <a:rPr sz="1200" b="1" spc="1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1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Attributes:</a:t>
            </a:r>
            <a:r>
              <a:rPr sz="1200" b="1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entities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attributes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required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system.</a:t>
            </a:r>
            <a:endParaRPr sz="1200">
              <a:latin typeface="Times New Roman"/>
              <a:cs typeface="Times New Roman"/>
            </a:endParaRPr>
          </a:p>
          <a:p>
            <a:pPr marL="241300" marR="10160" indent="-229235">
              <a:lnSpc>
                <a:spcPct val="110000"/>
              </a:lnSpc>
              <a:spcBef>
                <a:spcPts val="409"/>
              </a:spcBef>
              <a:buFont typeface="Times New Roman"/>
              <a:buChar char="•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Design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ER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Diagram:</a:t>
            </a:r>
            <a:r>
              <a:rPr sz="1200" b="1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 </a:t>
            </a:r>
            <a:r>
              <a:rPr sz="1200" spc="-10" dirty="0">
                <a:latin typeface="Times New Roman"/>
                <a:cs typeface="Times New Roman"/>
              </a:rPr>
              <a:t>Entity-</a:t>
            </a:r>
            <a:r>
              <a:rPr sz="1200" dirty="0">
                <a:latin typeface="Times New Roman"/>
                <a:cs typeface="Times New Roman"/>
              </a:rPr>
              <a:t>Relationship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(ER)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maps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spc="-10" dirty="0">
                <a:latin typeface="Times New Roman"/>
                <a:cs typeface="Times New Roman"/>
              </a:rPr>
              <a:t>entities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relationships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clearly.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55"/>
              </a:spcBef>
              <a:buFont typeface="Times New Roman"/>
              <a:buChar char="•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Create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10" dirty="0">
                <a:latin typeface="Times New Roman"/>
                <a:cs typeface="Times New Roman"/>
              </a:rPr>
              <a:t> Relational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Schema: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Convert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diagram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relational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schema.</a:t>
            </a:r>
            <a:endParaRPr sz="1200">
              <a:latin typeface="Times New Roman"/>
              <a:cs typeface="Times New Roman"/>
            </a:endParaRPr>
          </a:p>
          <a:p>
            <a:pPr marL="241300" marR="9525" indent="-229235">
              <a:lnSpc>
                <a:spcPct val="111800"/>
              </a:lnSpc>
              <a:spcBef>
                <a:spcPts val="359"/>
              </a:spcBef>
              <a:buFont typeface="Times New Roman"/>
              <a:buChar char="•"/>
              <a:tabLst>
                <a:tab pos="2413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Implement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with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Constraints: </a:t>
            </a:r>
            <a:r>
              <a:rPr sz="1200" spc="-10" dirty="0">
                <a:latin typeface="Times New Roman"/>
                <a:cs typeface="Times New Roman"/>
              </a:rPr>
              <a:t>Implement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constraints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keys,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foreign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NULL,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UNIQUE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DEFAULT.</a:t>
            </a:r>
            <a:endParaRPr sz="1200">
              <a:latin typeface="Times New Roman"/>
              <a:cs typeface="Times New Roman"/>
            </a:endParaRPr>
          </a:p>
          <a:p>
            <a:pPr marL="241300" marR="6985" indent="-229235">
              <a:lnSpc>
                <a:spcPct val="110000"/>
              </a:lnSpc>
              <a:spcBef>
                <a:spcPts val="380"/>
              </a:spcBef>
              <a:buFont typeface="Times New Roman"/>
              <a:buChar char="•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Perform</a:t>
            </a:r>
            <a:r>
              <a:rPr sz="1200" b="1" spc="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CRUD</a:t>
            </a:r>
            <a:r>
              <a:rPr sz="1200" b="1" spc="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Operations</a:t>
            </a:r>
            <a:r>
              <a:rPr sz="1200" b="1" spc="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Queries:</a:t>
            </a:r>
            <a:r>
              <a:rPr sz="1200" b="1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CRUD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complex </a:t>
            </a:r>
            <a:r>
              <a:rPr sz="1200" dirty="0">
                <a:latin typeface="Times New Roman"/>
                <a:cs typeface="Times New Roman"/>
              </a:rPr>
              <a:t>queries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data.</a:t>
            </a:r>
            <a:endParaRPr sz="1200">
              <a:latin typeface="Times New Roman"/>
              <a:cs typeface="Times New Roman"/>
            </a:endParaRPr>
          </a:p>
          <a:p>
            <a:pPr marL="241300" marR="5715" indent="-229235">
              <a:lnSpc>
                <a:spcPct val="110000"/>
              </a:lnSpc>
              <a:spcBef>
                <a:spcPts val="409"/>
              </a:spcBef>
              <a:buFont typeface="Times New Roman"/>
              <a:buChar char="•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Ensure</a:t>
            </a:r>
            <a:r>
              <a:rPr sz="1200" b="1" spc="114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1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Integrity</a:t>
            </a:r>
            <a:r>
              <a:rPr sz="1200" b="1" spc="1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1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Validation:</a:t>
            </a:r>
            <a:r>
              <a:rPr sz="1200" b="1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stays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accurate, </a:t>
            </a:r>
            <a:r>
              <a:rPr sz="1200" dirty="0">
                <a:latin typeface="Times New Roman"/>
                <a:cs typeface="Times New Roman"/>
              </a:rPr>
              <a:t>consistent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valid.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1685" y="798322"/>
            <a:ext cx="34544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mtClean="0">
                <a:latin typeface="Times New Roman"/>
                <a:cs typeface="Times New Roman"/>
              </a:rPr>
              <a:t>5.</a:t>
            </a:r>
            <a:r>
              <a:rPr sz="1600" b="1" spc="-40" smtClean="0">
                <a:latin typeface="Times New Roman"/>
                <a:cs typeface="Times New Roman"/>
              </a:rPr>
              <a:t> </a:t>
            </a:r>
            <a:r>
              <a:rPr sz="1600" b="1" smtClean="0">
                <a:latin typeface="Times New Roman"/>
                <a:cs typeface="Times New Roman"/>
              </a:rPr>
              <a:t>TOOLS</a:t>
            </a:r>
            <a:r>
              <a:rPr sz="1600" b="1" spc="-25" smtClean="0">
                <a:latin typeface="Times New Roman"/>
                <a:cs typeface="Times New Roman"/>
              </a:rPr>
              <a:t> </a:t>
            </a:r>
            <a:r>
              <a:rPr sz="1600" b="1" smtClean="0">
                <a:latin typeface="Times New Roman"/>
                <a:cs typeface="Times New Roman"/>
              </a:rPr>
              <a:t>&amp;</a:t>
            </a:r>
            <a:r>
              <a:rPr sz="1600" b="1" spc="-35" smtClean="0">
                <a:latin typeface="Times New Roman"/>
                <a:cs typeface="Times New Roman"/>
              </a:rPr>
              <a:t> </a:t>
            </a:r>
            <a:r>
              <a:rPr sz="1600" b="1" smtClean="0">
                <a:latin typeface="Times New Roman"/>
                <a:cs typeface="Times New Roman"/>
              </a:rPr>
              <a:t>TECHNOLOGIES</a:t>
            </a:r>
            <a:r>
              <a:rPr sz="1600" b="1" spc="-45" smtClean="0">
                <a:latin typeface="Times New Roman"/>
                <a:cs typeface="Times New Roman"/>
              </a:rPr>
              <a:t> </a:t>
            </a:r>
            <a:r>
              <a:rPr sz="1600" b="1" spc="-20" smtClean="0">
                <a:latin typeface="Times New Roman"/>
                <a:cs typeface="Times New Roman"/>
              </a:rPr>
              <a:t>USED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161541"/>
          <a:ext cx="5732143" cy="17754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7364"/>
                <a:gridCol w="3954779"/>
              </a:tblGrid>
              <a:tr h="252729">
                <a:tc>
                  <a:txBody>
                    <a:bodyPr/>
                    <a:lstStyle/>
                    <a:p>
                      <a:pPr marL="5880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Category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12134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Tool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Technology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Used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Server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MySQL-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compatible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relational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database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Query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Admin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Tool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SQL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client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SQL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Language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SQL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(DDL,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DML,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DQL)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Front-end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(if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any)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implemented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level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Operating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specified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Version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Control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GitHub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655844"/>
            <a:ext cx="3964940" cy="74295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808480">
              <a:lnSpc>
                <a:spcPct val="100000"/>
              </a:lnSpc>
              <a:spcBef>
                <a:spcPts val="1205"/>
              </a:spcBef>
            </a:pPr>
            <a:r>
              <a:rPr sz="1600" b="1" dirty="0">
                <a:latin typeface="Times New Roman"/>
                <a:cs typeface="Times New Roman"/>
              </a:rPr>
              <a:t>6.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DATABASE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DESIGN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400" b="1" dirty="0">
                <a:latin typeface="Times New Roman"/>
                <a:cs typeface="Times New Roman"/>
              </a:rPr>
              <a:t>6.1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Identified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Entities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466341"/>
          <a:ext cx="5732145" cy="26263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/>
                <a:gridCol w="1363676"/>
                <a:gridCol w="3859199"/>
              </a:tblGrid>
              <a:tr h="255904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S.No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31369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Entity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4356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6954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Stores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book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details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title,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author,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ISBN,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category,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price,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status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available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copies.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358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Manages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member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registration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details: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name,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email,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phone,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address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registration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56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0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0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357505">
                        <a:lnSpc>
                          <a:spcPct val="101699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Stores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details: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name,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email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phone,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that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every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traced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who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issued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4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48590">
                        <a:lnSpc>
                          <a:spcPct val="100800"/>
                        </a:lnSpc>
                        <a:spcBef>
                          <a:spcPts val="15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Records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issue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book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member: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issue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date,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due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return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date,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together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book,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member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librarian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involved.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96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6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428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Stores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publisher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details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(name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address)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links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each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publisher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books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4377689"/>
            <a:ext cx="15868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6.2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Entity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Attributes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4682997"/>
          <a:ext cx="5731510" cy="5004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4405"/>
                <a:gridCol w="1396365"/>
                <a:gridCol w="1207135"/>
                <a:gridCol w="951230"/>
                <a:gridCol w="1222375"/>
              </a:tblGrid>
              <a:tr h="422275">
                <a:tc>
                  <a:txBody>
                    <a:bodyPr/>
                    <a:lstStyle/>
                    <a:p>
                      <a:pPr marL="27432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Entity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62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38989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Attribute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62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D9E1F3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62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D9E1F3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87630" indent="249554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Key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(PK/FK/—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D9E1F3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Attribute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62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D9E1F3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Book_ID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D9E1F3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D9E1F3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PK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D9E1F3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D9E1F3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VARCHAR(200)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Author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VARCHAR(100)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ISBN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VARCHAR(20)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Category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VARCHAR(50)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DECIMAL(8,2)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Status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VARCHAR(20)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Default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Available_Copies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Default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PK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VARCHAR(100)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Email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VARCHAR(100)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Phone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VARCHAR(15)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VARCHAR(200)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Reg_Date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PK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VARCHAR(100)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Email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VARCHAR(100)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14704" y="826261"/>
          <a:ext cx="5731510" cy="32289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4405"/>
                <a:gridCol w="1396365"/>
                <a:gridCol w="1207135"/>
                <a:gridCol w="951230"/>
                <a:gridCol w="1222375"/>
              </a:tblGrid>
              <a:tr h="435609">
                <a:tc>
                  <a:txBody>
                    <a:bodyPr/>
                    <a:lstStyle/>
                    <a:p>
                      <a:pPr marL="27432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Entity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38989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Attribute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87630" indent="249554">
                        <a:lnSpc>
                          <a:spcPct val="101699"/>
                        </a:lnSpc>
                        <a:spcBef>
                          <a:spcPts val="14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Key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(PK/FK/—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Attribute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Phone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VARCHAR(15)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Loan_ID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PK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Book_ID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Issue_Date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Due_Date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Return_Date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PK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VARCHAR(100)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VARCHAR(200)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Simple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02004" y="4263084"/>
            <a:ext cx="5753100" cy="1225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95"/>
              </a:spcBef>
            </a:pPr>
            <a:r>
              <a:rPr sz="1000" i="1" dirty="0">
                <a:latin typeface="Times New Roman"/>
                <a:cs typeface="Times New Roman"/>
              </a:rPr>
              <a:t>Note: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Book_ID</a:t>
            </a:r>
            <a:r>
              <a:rPr sz="1000" i="1" spc="-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is</a:t>
            </a:r>
            <a:r>
              <a:rPr sz="1000" i="1" spc="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the</a:t>
            </a:r>
            <a:r>
              <a:rPr sz="1000" i="1" spc="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primary</a:t>
            </a:r>
            <a:r>
              <a:rPr sz="1000" i="1" spc="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key</a:t>
            </a:r>
            <a:r>
              <a:rPr sz="1000" i="1" spc="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of</a:t>
            </a:r>
            <a:r>
              <a:rPr sz="1000" i="1" spc="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Book.</a:t>
            </a:r>
            <a:r>
              <a:rPr sz="1000" i="1" spc="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ISBN is</a:t>
            </a:r>
            <a:r>
              <a:rPr sz="1000" i="1" spc="-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declared</a:t>
            </a:r>
            <a:r>
              <a:rPr sz="1000" i="1" spc="-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UNIQUE,</a:t>
            </a:r>
            <a:r>
              <a:rPr sz="1000" i="1" spc="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so</a:t>
            </a:r>
            <a:r>
              <a:rPr sz="1000" i="1" spc="-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it</a:t>
            </a:r>
            <a:r>
              <a:rPr sz="1000" i="1" spc="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also</a:t>
            </a:r>
            <a:r>
              <a:rPr sz="1000" i="1" spc="-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identifies</a:t>
            </a:r>
            <a:r>
              <a:rPr sz="1000" i="1" spc="-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</a:t>
            </a:r>
            <a:r>
              <a:rPr sz="1000" i="1" spc="1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book</a:t>
            </a:r>
            <a:r>
              <a:rPr sz="1000" i="1" spc="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and</a:t>
            </a:r>
            <a:r>
              <a:rPr sz="1000" i="1" spc="-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acts</a:t>
            </a:r>
            <a:r>
              <a:rPr sz="1000" i="1" spc="-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as</a:t>
            </a:r>
            <a:r>
              <a:rPr sz="1000" i="1" spc="10" dirty="0">
                <a:latin typeface="Times New Roman"/>
                <a:cs typeface="Times New Roman"/>
              </a:rPr>
              <a:t> </a:t>
            </a:r>
            <a:r>
              <a:rPr sz="1000" i="1" spc="-50" dirty="0">
                <a:latin typeface="Times New Roman"/>
                <a:cs typeface="Times New Roman"/>
              </a:rPr>
              <a:t>a</a:t>
            </a:r>
            <a:r>
              <a:rPr sz="1000" i="1" dirty="0">
                <a:latin typeface="Times New Roman"/>
                <a:cs typeface="Times New Roman"/>
              </a:rPr>
              <a:t> candidate</a:t>
            </a:r>
            <a:r>
              <a:rPr sz="1000" i="1" spc="-40" dirty="0">
                <a:latin typeface="Times New Roman"/>
                <a:cs typeface="Times New Roman"/>
              </a:rPr>
              <a:t> </a:t>
            </a:r>
            <a:r>
              <a:rPr sz="1000" i="1" spc="-20" dirty="0">
                <a:latin typeface="Times New Roman"/>
                <a:cs typeface="Times New Roman"/>
              </a:rPr>
              <a:t>key.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400" b="1" dirty="0">
                <a:latin typeface="Times New Roman"/>
                <a:cs typeface="Times New Roman"/>
              </a:rPr>
              <a:t>6.3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ER </a:t>
            </a:r>
            <a:r>
              <a:rPr sz="1400" b="1" spc="-10" dirty="0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  <a:p>
            <a:pPr marL="12700" marR="9525">
              <a:lnSpc>
                <a:spcPts val="206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Entity-</a:t>
            </a:r>
            <a:r>
              <a:rPr sz="1200" dirty="0">
                <a:latin typeface="Times New Roman"/>
                <a:cs typeface="Times New Roman"/>
              </a:rPr>
              <a:t>Relationship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below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entities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rectangles,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attributes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 </a:t>
            </a:r>
            <a:r>
              <a:rPr sz="1200" dirty="0">
                <a:latin typeface="Times New Roman"/>
                <a:cs typeface="Times New Roman"/>
              </a:rPr>
              <a:t>ellipses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relationships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0" dirty="0">
                <a:latin typeface="Times New Roman"/>
                <a:cs typeface="Times New Roman"/>
              </a:rPr>
              <a:t> diamonds.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 descr="ER diagram of the Library Management System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263" y="826007"/>
            <a:ext cx="4859528" cy="4529582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02004" y="5386831"/>
            <a:ext cx="4957445" cy="1997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73785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Times New Roman"/>
                <a:cs typeface="Times New Roman"/>
              </a:rPr>
              <a:t>Figure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6.3: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ER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Diagram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Library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Management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System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relationships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are: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Publisher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publishes many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(1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N).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55"/>
              </a:spcBef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 can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borrow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(1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N).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50"/>
              </a:spcBef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borrowed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(through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Loan).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Librarian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issues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Loans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(1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N).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400" b="1" dirty="0">
                <a:latin typeface="Times New Roman"/>
                <a:cs typeface="Times New Roman"/>
              </a:rPr>
              <a:t>6.4 </a:t>
            </a:r>
            <a:r>
              <a:rPr sz="1400" b="1" spc="-10" dirty="0">
                <a:latin typeface="Times New Roman"/>
                <a:cs typeface="Times New Roman"/>
              </a:rPr>
              <a:t>Relationships</a:t>
            </a:r>
            <a:r>
              <a:rPr sz="1400" b="1" spc="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&amp;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Cardinality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7451470"/>
          <a:ext cx="5733415" cy="2004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635"/>
                <a:gridCol w="1079500"/>
                <a:gridCol w="1143635"/>
                <a:gridCol w="2366645"/>
              </a:tblGrid>
              <a:tr h="255904">
                <a:tc>
                  <a:txBody>
                    <a:bodyPr/>
                    <a:lstStyle/>
                    <a:p>
                      <a:pPr marL="3111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Entity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Relationship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3105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Entity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Cardinality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(1:1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1:N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M:N)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43560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6827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1:N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(one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publisher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publishes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many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books)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Borrows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Book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(via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Loan)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23189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1:N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(one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borrow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many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books)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1625" marR="163830" indent="-128270">
                        <a:lnSpc>
                          <a:spcPct val="101699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borrowed through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74625">
                        <a:lnSpc>
                          <a:spcPct val="101699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1:N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(one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book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borrowed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many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members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time)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560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Issues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43053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1:N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(one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issues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many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loans)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25705"/>
            <a:ext cx="5746115" cy="823594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b="1" dirty="0">
                <a:latin typeface="Times New Roman"/>
                <a:cs typeface="Times New Roman"/>
              </a:rPr>
              <a:t>6.5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Relational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Database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Schema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ts val="206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converted into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schema shown below.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entity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becomes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table,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identify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rows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foreign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implement</a:t>
            </a:r>
            <a:r>
              <a:rPr sz="1200" dirty="0">
                <a:latin typeface="Times New Roman"/>
                <a:cs typeface="Times New Roman"/>
              </a:rPr>
              <a:t> the</a:t>
            </a:r>
            <a:r>
              <a:rPr sz="1200" spc="-10" dirty="0">
                <a:latin typeface="Times New Roman"/>
                <a:cs typeface="Times New Roman"/>
              </a:rPr>
              <a:t> relationships.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 descr="Relational schema of the Library Management System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185" y="1758949"/>
            <a:ext cx="5615177" cy="39306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786254" y="5719317"/>
            <a:ext cx="398907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Times New Roman"/>
                <a:cs typeface="Times New Roman"/>
              </a:rPr>
              <a:t>Figure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6.5: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Relational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Schema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Library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Management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System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704" y="6030722"/>
          <a:ext cx="5732778" cy="36645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635"/>
                <a:gridCol w="1143635"/>
                <a:gridCol w="1207134"/>
                <a:gridCol w="634364"/>
                <a:gridCol w="1985010"/>
              </a:tblGrid>
              <a:tr h="435609">
                <a:tc>
                  <a:txBody>
                    <a:bodyPr/>
                    <a:lstStyle/>
                    <a:p>
                      <a:pPr marL="191770" marR="183515" indent="5715">
                        <a:lnSpc>
                          <a:spcPct val="101699"/>
                        </a:lnSpc>
                        <a:spcBef>
                          <a:spcPts val="14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Table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Column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PK/FK/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61277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Constraints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Book_ID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PK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PRIMARY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KEY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VARCHAR(200)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NULL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Author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VARCHAR(100)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NULL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allowed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ISBN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VARCHAR(20)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UNIQUE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FOREIGN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Category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VARCHAR(50)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NULL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allowed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DECIMAL(8,2)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NULL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allowed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Status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VARCHAR(20)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DEFAULT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'Available'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560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09855">
                        <a:lnSpc>
                          <a:spcPct val="101699"/>
                        </a:lnSpc>
                        <a:spcBef>
                          <a:spcPts val="12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Available_Copi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DEFAULT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(CHECK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&gt;=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optional)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PK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PRIMARY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KEY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VARCHAR(100)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NULL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Email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VARCHAR(100)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UNIQUE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14704" y="826261"/>
          <a:ext cx="5732778" cy="49345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635"/>
                <a:gridCol w="1143635"/>
                <a:gridCol w="1207134"/>
                <a:gridCol w="634364"/>
                <a:gridCol w="1985010"/>
              </a:tblGrid>
              <a:tr h="435609">
                <a:tc>
                  <a:txBody>
                    <a:bodyPr/>
                    <a:lstStyle/>
                    <a:p>
                      <a:pPr marL="191770" marR="183515" indent="5715">
                        <a:lnSpc>
                          <a:spcPct val="101699"/>
                        </a:lnSpc>
                        <a:spcBef>
                          <a:spcPts val="14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Table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Column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PK/FK/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61277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Constraints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Phone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VARCHAR(15)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NULL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allowed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VARCHAR(200)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NULL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allowed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Reg_Date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NULL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allowed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PK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PRIMARY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KEY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VARCHAR(100)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NULL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Email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VARCHAR(100)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NULL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allowed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Phone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VARCHAR(15)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NULL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allowed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Loan_ID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PK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PRIMARY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KEY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Book_ID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FOREIGN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FOREIGN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FOREIGN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Issue_Date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NULL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Due_Date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NULL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0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Return_Date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0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0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0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403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NULL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allowed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(NULL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not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yet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returned)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PK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PRIMARY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KEY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VARCHAR(100)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NULL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VARCHAR(200)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NULL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allowed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02004" y="6048501"/>
            <a:ext cx="217678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6.6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Primary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&amp;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Foreign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Keys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704" y="6353809"/>
          <a:ext cx="5730873" cy="2948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0269"/>
                <a:gridCol w="1015365"/>
                <a:gridCol w="1014730"/>
                <a:gridCol w="1017905"/>
                <a:gridCol w="1792604"/>
              </a:tblGrid>
              <a:tr h="421640">
                <a:tc>
                  <a:txBody>
                    <a:bodyPr/>
                    <a:lstStyle/>
                    <a:p>
                      <a:pPr marL="259079" marR="233679" indent="-190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Entity Table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347345" marR="78740" indent="-2686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Primary</a:t>
                      </a:r>
                      <a:r>
                        <a:rPr sz="12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Key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(PK)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D9E1F3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350520" marR="93345" indent="-2470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Foreign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Key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(FK)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D9E1F3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322580" marR="136525" indent="-18288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Referenced Table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D9E1F3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Purpose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D9E1F3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45275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70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Book_ID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70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D9E1F3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70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D9E1F3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70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D9E1F3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marR="386080">
                        <a:lnSpc>
                          <a:spcPct val="101699"/>
                        </a:lnSpc>
                        <a:spcBef>
                          <a:spcPts val="25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Links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book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its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D9E1F3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Base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member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record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Base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record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0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Loan_ID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0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Book_ID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0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0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marR="185420">
                        <a:lnSpc>
                          <a:spcPct val="101800"/>
                        </a:lnSpc>
                        <a:spcBef>
                          <a:spcPts val="114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Identifies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book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issued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560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Loan_ID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marR="9779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Identifies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who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borrowed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Loan_ID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marR="1555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Records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who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issued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Base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publisher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record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0424" y="2384170"/>
            <a:ext cx="5644515" cy="5930265"/>
          </a:xfrm>
          <a:custGeom>
            <a:avLst/>
            <a:gdLst/>
            <a:ahLst/>
            <a:cxnLst/>
            <a:rect l="l" t="t" r="r" b="b"/>
            <a:pathLst>
              <a:path w="5644515" h="5930265">
                <a:moveTo>
                  <a:pt x="5644007" y="5253240"/>
                </a:moveTo>
                <a:lnTo>
                  <a:pt x="0" y="5253240"/>
                </a:lnTo>
                <a:lnTo>
                  <a:pt x="0" y="5420868"/>
                </a:lnTo>
                <a:lnTo>
                  <a:pt x="0" y="5591505"/>
                </a:lnTo>
                <a:lnTo>
                  <a:pt x="0" y="5759450"/>
                </a:lnTo>
                <a:lnTo>
                  <a:pt x="0" y="5930138"/>
                </a:lnTo>
                <a:lnTo>
                  <a:pt x="5644007" y="5930138"/>
                </a:lnTo>
                <a:lnTo>
                  <a:pt x="5644007" y="5759450"/>
                </a:lnTo>
                <a:lnTo>
                  <a:pt x="5644007" y="5591556"/>
                </a:lnTo>
                <a:lnTo>
                  <a:pt x="5644007" y="5420868"/>
                </a:lnTo>
                <a:lnTo>
                  <a:pt x="5644007" y="5253240"/>
                </a:lnTo>
                <a:close/>
              </a:path>
              <a:path w="5644515" h="5930265">
                <a:moveTo>
                  <a:pt x="5644007" y="4405579"/>
                </a:moveTo>
                <a:lnTo>
                  <a:pt x="0" y="4405579"/>
                </a:lnTo>
                <a:lnTo>
                  <a:pt x="0" y="4573524"/>
                </a:lnTo>
                <a:lnTo>
                  <a:pt x="0" y="4744212"/>
                </a:lnTo>
                <a:lnTo>
                  <a:pt x="0" y="4911852"/>
                </a:lnTo>
                <a:lnTo>
                  <a:pt x="0" y="5082540"/>
                </a:lnTo>
                <a:lnTo>
                  <a:pt x="0" y="5253228"/>
                </a:lnTo>
                <a:lnTo>
                  <a:pt x="5644007" y="5253228"/>
                </a:lnTo>
                <a:lnTo>
                  <a:pt x="5644007" y="5082540"/>
                </a:lnTo>
                <a:lnTo>
                  <a:pt x="5644007" y="4911852"/>
                </a:lnTo>
                <a:lnTo>
                  <a:pt x="5644007" y="4744212"/>
                </a:lnTo>
                <a:lnTo>
                  <a:pt x="5644007" y="4573524"/>
                </a:lnTo>
                <a:lnTo>
                  <a:pt x="5644007" y="4405579"/>
                </a:lnTo>
                <a:close/>
              </a:path>
              <a:path w="5644515" h="5930265">
                <a:moveTo>
                  <a:pt x="5644007" y="1186002"/>
                </a:moveTo>
                <a:lnTo>
                  <a:pt x="0" y="1186002"/>
                </a:lnTo>
                <a:lnTo>
                  <a:pt x="0" y="1353947"/>
                </a:lnTo>
                <a:lnTo>
                  <a:pt x="0" y="1524635"/>
                </a:lnTo>
                <a:lnTo>
                  <a:pt x="0" y="4405503"/>
                </a:lnTo>
                <a:lnTo>
                  <a:pt x="5644007" y="4405503"/>
                </a:lnTo>
                <a:lnTo>
                  <a:pt x="5644007" y="1353947"/>
                </a:lnTo>
                <a:lnTo>
                  <a:pt x="5644007" y="1186002"/>
                </a:lnTo>
                <a:close/>
              </a:path>
              <a:path w="5644515" h="5930265">
                <a:moveTo>
                  <a:pt x="5644007" y="0"/>
                </a:moveTo>
                <a:lnTo>
                  <a:pt x="0" y="0"/>
                </a:lnTo>
                <a:lnTo>
                  <a:pt x="0" y="167589"/>
                </a:lnTo>
                <a:lnTo>
                  <a:pt x="0" y="167640"/>
                </a:lnTo>
                <a:lnTo>
                  <a:pt x="0" y="1185926"/>
                </a:lnTo>
                <a:lnTo>
                  <a:pt x="5644007" y="1185926"/>
                </a:lnTo>
                <a:lnTo>
                  <a:pt x="5644007" y="167589"/>
                </a:lnTo>
                <a:lnTo>
                  <a:pt x="564400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2004" y="655844"/>
            <a:ext cx="5753735" cy="7665084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26185">
              <a:lnSpc>
                <a:spcPct val="100000"/>
              </a:lnSpc>
              <a:spcBef>
                <a:spcPts val="1205"/>
              </a:spcBef>
            </a:pPr>
            <a:r>
              <a:rPr sz="1600" b="1" dirty="0">
                <a:latin typeface="Times New Roman"/>
                <a:cs typeface="Times New Roman"/>
              </a:rPr>
              <a:t>7.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DATABASE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IMPLEMENTATION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400" b="1" dirty="0">
                <a:latin typeface="Times New Roman"/>
                <a:cs typeface="Times New Roman"/>
              </a:rPr>
              <a:t>7.1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DDL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–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Database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Table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Creation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ts val="2060"/>
              </a:lnSpc>
              <a:spcBef>
                <a:spcPts val="65"/>
              </a:spcBef>
            </a:pPr>
            <a:r>
              <a:rPr sz="1200" spc="-2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LibraryDB</a:t>
            </a:r>
            <a:r>
              <a:rPr sz="1200" spc="-25" dirty="0">
                <a:latin typeface="Times New Roman"/>
                <a:cs typeface="Times New Roman"/>
              </a:rPr>
              <a:t> is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created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first,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followed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five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tables</a:t>
            </a:r>
            <a:r>
              <a:rPr sz="1200" spc="-25" dirty="0">
                <a:latin typeface="Times New Roman"/>
                <a:cs typeface="Times New Roman"/>
              </a:rPr>
              <a:t> in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dependency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order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(parent </a:t>
            </a:r>
            <a:r>
              <a:rPr sz="1200" dirty="0">
                <a:latin typeface="Times New Roman"/>
                <a:cs typeface="Times New Roman"/>
              </a:rPr>
              <a:t>tables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before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child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tables).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Constraints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declared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directly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TABLE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200" spc="-10" dirty="0">
                <a:latin typeface="Times New Roman"/>
                <a:cs typeface="Times New Roman"/>
              </a:rPr>
              <a:t>statements.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Times New Roman"/>
              <a:cs typeface="Times New Roman"/>
            </a:endParaRPr>
          </a:p>
          <a:p>
            <a:pPr marL="76200">
              <a:lnSpc>
                <a:spcPts val="1395"/>
              </a:lnSpc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</a:t>
            </a:r>
            <a:endParaRPr sz="1200">
              <a:latin typeface="Times New Roman"/>
              <a:cs typeface="Times New Roman"/>
            </a:endParaRPr>
          </a:p>
          <a:p>
            <a:pPr marL="76200">
              <a:lnSpc>
                <a:spcPts val="1335"/>
              </a:lnSpc>
            </a:pP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LibraryDB;</a:t>
            </a:r>
            <a:endParaRPr sz="1200">
              <a:latin typeface="Times New Roman"/>
              <a:cs typeface="Times New Roman"/>
            </a:endParaRPr>
          </a:p>
          <a:p>
            <a:pPr marL="762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LibraryDB;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155575" marR="3331210" indent="-79375">
              <a:lnSpc>
                <a:spcPts val="1320"/>
              </a:lnSpc>
            </a:pP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Publisher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( </a:t>
            </a:r>
            <a:r>
              <a:rPr sz="1200" dirty="0">
                <a:latin typeface="Times New Roman"/>
                <a:cs typeface="Times New Roman"/>
              </a:rPr>
              <a:t>Publisher_ID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-20" dirty="0">
                <a:latin typeface="Times New Roman"/>
                <a:cs typeface="Times New Roman"/>
              </a:rPr>
              <a:t> KEY,</a:t>
            </a:r>
            <a:endParaRPr sz="1200">
              <a:latin typeface="Times New Roman"/>
              <a:cs typeface="Times New Roman"/>
            </a:endParaRPr>
          </a:p>
          <a:p>
            <a:pPr marL="155575">
              <a:lnSpc>
                <a:spcPts val="1260"/>
              </a:lnSpc>
              <a:tabLst>
                <a:tab pos="897890" algn="l"/>
              </a:tabLst>
            </a:pPr>
            <a:r>
              <a:rPr sz="1200" spc="-20" dirty="0">
                <a:latin typeface="Times New Roman"/>
                <a:cs typeface="Times New Roman"/>
              </a:rPr>
              <a:t>Name</a:t>
            </a:r>
            <a:r>
              <a:rPr sz="1200" dirty="0">
                <a:latin typeface="Times New Roman"/>
                <a:cs typeface="Times New Roman"/>
              </a:rPr>
              <a:t>	VARCHAR(100)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0" dirty="0">
                <a:latin typeface="Times New Roman"/>
                <a:cs typeface="Times New Roman"/>
              </a:rPr>
              <a:t> NULL,</a:t>
            </a:r>
            <a:endParaRPr sz="1200">
              <a:latin typeface="Times New Roman"/>
              <a:cs typeface="Times New Roman"/>
            </a:endParaRPr>
          </a:p>
          <a:p>
            <a:pPr marL="155575">
              <a:lnSpc>
                <a:spcPts val="1335"/>
              </a:lnSpc>
              <a:tabLst>
                <a:tab pos="919480" algn="l"/>
              </a:tabLst>
            </a:pPr>
            <a:r>
              <a:rPr sz="1200" spc="-10" dirty="0">
                <a:latin typeface="Times New Roman"/>
                <a:cs typeface="Times New Roman"/>
              </a:rPr>
              <a:t>Address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VARCHAR(200)</a:t>
            </a:r>
            <a:endParaRPr sz="1200">
              <a:latin typeface="Times New Roman"/>
              <a:cs typeface="Times New Roman"/>
            </a:endParaRPr>
          </a:p>
          <a:p>
            <a:pPr marL="76200">
              <a:lnSpc>
                <a:spcPts val="1395"/>
              </a:lnSpc>
            </a:pPr>
            <a:r>
              <a:rPr sz="1200" spc="-25" dirty="0">
                <a:latin typeface="Times New Roman"/>
                <a:cs typeface="Times New Roman"/>
              </a:rPr>
              <a:t>);</a:t>
            </a:r>
            <a:endParaRPr sz="1200">
              <a:latin typeface="Times New Roman"/>
              <a:cs typeface="Times New Roman"/>
            </a:endParaRPr>
          </a:p>
          <a:p>
            <a:pPr marL="76200">
              <a:lnSpc>
                <a:spcPts val="1390"/>
              </a:lnSpc>
              <a:spcBef>
                <a:spcPts val="1225"/>
              </a:spcBef>
            </a:pP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(</a:t>
            </a:r>
            <a:endParaRPr sz="1200">
              <a:latin typeface="Times New Roman"/>
              <a:cs typeface="Times New Roman"/>
            </a:endParaRPr>
          </a:p>
          <a:p>
            <a:pPr marL="155575">
              <a:lnSpc>
                <a:spcPts val="1330"/>
              </a:lnSpc>
              <a:tabLst>
                <a:tab pos="1139190" algn="l"/>
              </a:tabLst>
            </a:pPr>
            <a:r>
              <a:rPr sz="1200" spc="-10" dirty="0">
                <a:latin typeface="Times New Roman"/>
                <a:cs typeface="Times New Roman"/>
              </a:rPr>
              <a:t>Book_ID</a:t>
            </a:r>
            <a:r>
              <a:rPr sz="1200" dirty="0">
                <a:latin typeface="Times New Roman"/>
                <a:cs typeface="Times New Roman"/>
              </a:rPr>
              <a:t>	INT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KEY,</a:t>
            </a:r>
            <a:endParaRPr sz="1200">
              <a:latin typeface="Times New Roman"/>
              <a:cs typeface="Times New Roman"/>
            </a:endParaRPr>
          </a:p>
          <a:p>
            <a:pPr marL="155575" marR="2905760">
              <a:lnSpc>
                <a:spcPts val="1340"/>
              </a:lnSpc>
              <a:spcBef>
                <a:spcPts val="70"/>
              </a:spcBef>
              <a:tabLst>
                <a:tab pos="937260" algn="l"/>
                <a:tab pos="1043940" algn="l"/>
              </a:tabLst>
            </a:pPr>
            <a:r>
              <a:rPr sz="1200" spc="-10" dirty="0">
                <a:latin typeface="Times New Roman"/>
                <a:cs typeface="Times New Roman"/>
              </a:rPr>
              <a:t>Title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VARCHAR(200)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NULL, </a:t>
            </a:r>
            <a:r>
              <a:rPr sz="1200" spc="-10" dirty="0">
                <a:latin typeface="Times New Roman"/>
                <a:cs typeface="Times New Roman"/>
              </a:rPr>
              <a:t>Author</a:t>
            </a:r>
            <a:r>
              <a:rPr sz="1200" dirty="0">
                <a:latin typeface="Times New Roman"/>
                <a:cs typeface="Times New Roman"/>
              </a:rPr>
              <a:t>		</a:t>
            </a:r>
            <a:r>
              <a:rPr sz="1200" spc="-10" dirty="0">
                <a:latin typeface="Times New Roman"/>
                <a:cs typeface="Times New Roman"/>
              </a:rPr>
              <a:t>VARCHAR(100),</a:t>
            </a:r>
            <a:endParaRPr sz="1200">
              <a:latin typeface="Times New Roman"/>
              <a:cs typeface="Times New Roman"/>
            </a:endParaRPr>
          </a:p>
          <a:p>
            <a:pPr marL="155575">
              <a:lnSpc>
                <a:spcPts val="1250"/>
              </a:lnSpc>
              <a:tabLst>
                <a:tab pos="1035050" algn="l"/>
              </a:tabLst>
            </a:pPr>
            <a:r>
              <a:rPr sz="1200" spc="-20" dirty="0">
                <a:latin typeface="Times New Roman"/>
                <a:cs typeface="Times New Roman"/>
              </a:rPr>
              <a:t>ISBN</a:t>
            </a:r>
            <a:r>
              <a:rPr sz="1200" dirty="0">
                <a:latin typeface="Times New Roman"/>
                <a:cs typeface="Times New Roman"/>
              </a:rPr>
              <a:t>	VARCHAR(20)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UNIQUE,</a:t>
            </a:r>
            <a:endParaRPr sz="1200">
              <a:latin typeface="Times New Roman"/>
              <a:cs typeface="Times New Roman"/>
            </a:endParaRPr>
          </a:p>
          <a:p>
            <a:pPr marL="155575">
              <a:lnSpc>
                <a:spcPts val="1330"/>
              </a:lnSpc>
              <a:tabLst>
                <a:tab pos="1193800" algn="l"/>
              </a:tabLst>
            </a:pPr>
            <a:r>
              <a:rPr sz="1200" spc="-10" dirty="0">
                <a:latin typeface="Times New Roman"/>
                <a:cs typeface="Times New Roman"/>
              </a:rPr>
              <a:t>Publisher_ID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INT,</a:t>
            </a:r>
            <a:endParaRPr sz="1200">
              <a:latin typeface="Times New Roman"/>
              <a:cs typeface="Times New Roman"/>
            </a:endParaRPr>
          </a:p>
          <a:p>
            <a:pPr marL="155575" marR="3618229">
              <a:lnSpc>
                <a:spcPts val="1340"/>
              </a:lnSpc>
              <a:spcBef>
                <a:spcPts val="65"/>
              </a:spcBef>
              <a:tabLst>
                <a:tab pos="962025" algn="l"/>
                <a:tab pos="1092835" algn="l"/>
              </a:tabLst>
            </a:pPr>
            <a:r>
              <a:rPr sz="1200" spc="-10" dirty="0">
                <a:latin typeface="Times New Roman"/>
                <a:cs typeface="Times New Roman"/>
              </a:rPr>
              <a:t>Category</a:t>
            </a:r>
            <a:r>
              <a:rPr sz="1200" dirty="0">
                <a:latin typeface="Times New Roman"/>
                <a:cs typeface="Times New Roman"/>
              </a:rPr>
              <a:t>		</a:t>
            </a:r>
            <a:r>
              <a:rPr sz="1200" spc="-10" dirty="0">
                <a:latin typeface="Times New Roman"/>
                <a:cs typeface="Times New Roman"/>
              </a:rPr>
              <a:t>VARCHAR(50), Price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DECIMAL(8,2),</a:t>
            </a:r>
            <a:endParaRPr sz="1200">
              <a:latin typeface="Times New Roman"/>
              <a:cs typeface="Times New Roman"/>
            </a:endParaRPr>
          </a:p>
          <a:p>
            <a:pPr marL="155575" marR="2314575">
              <a:lnSpc>
                <a:spcPts val="1320"/>
              </a:lnSpc>
              <a:spcBef>
                <a:spcPts val="25"/>
              </a:spcBef>
              <a:tabLst>
                <a:tab pos="983615" algn="l"/>
              </a:tabLst>
            </a:pPr>
            <a:r>
              <a:rPr sz="1200" spc="-10" dirty="0">
                <a:latin typeface="Times New Roman"/>
                <a:cs typeface="Times New Roman"/>
              </a:rPr>
              <a:t>Status</a:t>
            </a:r>
            <a:r>
              <a:rPr sz="1200" dirty="0">
                <a:latin typeface="Times New Roman"/>
                <a:cs typeface="Times New Roman"/>
              </a:rPr>
              <a:t>	VARCHAR(20)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DEFAULT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'Available', </a:t>
            </a:r>
            <a:r>
              <a:rPr sz="1200" dirty="0">
                <a:latin typeface="Times New Roman"/>
                <a:cs typeface="Times New Roman"/>
              </a:rPr>
              <a:t>Available_Copies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DEFAULT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1,</a:t>
            </a:r>
            <a:endParaRPr sz="1200">
              <a:latin typeface="Times New Roman"/>
              <a:cs typeface="Times New Roman"/>
            </a:endParaRPr>
          </a:p>
          <a:p>
            <a:pPr marL="231775" marR="3035300" indent="-76200">
              <a:lnSpc>
                <a:spcPts val="132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FOREIGN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(Publisher_ID) </a:t>
            </a:r>
            <a:r>
              <a:rPr sz="1200" dirty="0">
                <a:latin typeface="Times New Roman"/>
                <a:cs typeface="Times New Roman"/>
              </a:rPr>
              <a:t>REFERENCES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Publisher(Publisher_ID)</a:t>
            </a:r>
            <a:endParaRPr sz="1200">
              <a:latin typeface="Times New Roman"/>
              <a:cs typeface="Times New Roman"/>
            </a:endParaRPr>
          </a:p>
          <a:p>
            <a:pPr marL="76200">
              <a:lnSpc>
                <a:spcPts val="1320"/>
              </a:lnSpc>
            </a:pPr>
            <a:r>
              <a:rPr sz="1200" spc="-25" dirty="0">
                <a:latin typeface="Times New Roman"/>
                <a:cs typeface="Times New Roman"/>
              </a:rPr>
              <a:t>);</a:t>
            </a:r>
            <a:endParaRPr sz="1200">
              <a:latin typeface="Times New Roman"/>
              <a:cs typeface="Times New Roman"/>
            </a:endParaRPr>
          </a:p>
          <a:p>
            <a:pPr marL="155575" marR="3392170" indent="-79375">
              <a:lnSpc>
                <a:spcPts val="1340"/>
              </a:lnSpc>
              <a:spcBef>
                <a:spcPts val="1355"/>
              </a:spcBef>
            </a:pP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( </a:t>
            </a:r>
            <a:r>
              <a:rPr sz="1200" dirty="0">
                <a:latin typeface="Times New Roman"/>
                <a:cs typeface="Times New Roman"/>
              </a:rPr>
              <a:t>Member_ID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KEY,</a:t>
            </a:r>
            <a:endParaRPr sz="1200">
              <a:latin typeface="Times New Roman"/>
              <a:cs typeface="Times New Roman"/>
            </a:endParaRPr>
          </a:p>
          <a:p>
            <a:pPr marL="155575">
              <a:lnSpc>
                <a:spcPts val="1250"/>
              </a:lnSpc>
              <a:tabLst>
                <a:tab pos="785495" algn="l"/>
              </a:tabLst>
            </a:pPr>
            <a:r>
              <a:rPr sz="1200" spc="-20" dirty="0">
                <a:latin typeface="Times New Roman"/>
                <a:cs typeface="Times New Roman"/>
              </a:rPr>
              <a:t>Name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VARCHAR(100)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NULL,</a:t>
            </a:r>
            <a:endParaRPr sz="1200">
              <a:latin typeface="Times New Roman"/>
              <a:cs typeface="Times New Roman"/>
            </a:endParaRPr>
          </a:p>
          <a:p>
            <a:pPr marL="155575" marR="3264535">
              <a:lnSpc>
                <a:spcPts val="1320"/>
              </a:lnSpc>
              <a:spcBef>
                <a:spcPts val="95"/>
              </a:spcBef>
              <a:tabLst>
                <a:tab pos="745490" algn="l"/>
                <a:tab pos="764540" algn="l"/>
              </a:tabLst>
            </a:pPr>
            <a:r>
              <a:rPr sz="1200" spc="-10" dirty="0">
                <a:latin typeface="Times New Roman"/>
                <a:cs typeface="Times New Roman"/>
              </a:rPr>
              <a:t>Email</a:t>
            </a:r>
            <a:r>
              <a:rPr sz="1200" dirty="0">
                <a:latin typeface="Times New Roman"/>
                <a:cs typeface="Times New Roman"/>
              </a:rPr>
              <a:t>	VARCHAR(100)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UNIQUE, Phone</a:t>
            </a:r>
            <a:r>
              <a:rPr sz="1200" dirty="0">
                <a:latin typeface="Times New Roman"/>
                <a:cs typeface="Times New Roman"/>
              </a:rPr>
              <a:t>		</a:t>
            </a:r>
            <a:r>
              <a:rPr sz="1200" spc="-10" dirty="0">
                <a:latin typeface="Times New Roman"/>
                <a:cs typeface="Times New Roman"/>
              </a:rPr>
              <a:t>VARCHAR(15),</a:t>
            </a:r>
            <a:endParaRPr sz="1200">
              <a:latin typeface="Times New Roman"/>
              <a:cs typeface="Times New Roman"/>
            </a:endParaRPr>
          </a:p>
          <a:p>
            <a:pPr marL="155575" marR="3830320">
              <a:lnSpc>
                <a:spcPts val="1340"/>
              </a:lnSpc>
              <a:spcBef>
                <a:spcPts val="10"/>
              </a:spcBef>
              <a:tabLst>
                <a:tab pos="807085" algn="l"/>
              </a:tabLst>
            </a:pPr>
            <a:r>
              <a:rPr sz="1200" spc="-10" dirty="0">
                <a:latin typeface="Times New Roman"/>
                <a:cs typeface="Times New Roman"/>
              </a:rPr>
              <a:t>Address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VARCHAR(200), </a:t>
            </a:r>
            <a:r>
              <a:rPr sz="1200" dirty="0">
                <a:latin typeface="Times New Roman"/>
                <a:cs typeface="Times New Roman"/>
              </a:rPr>
              <a:t>Reg_Date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DATE</a:t>
            </a:r>
            <a:endParaRPr sz="1200">
              <a:latin typeface="Times New Roman"/>
              <a:cs typeface="Times New Roman"/>
            </a:endParaRPr>
          </a:p>
          <a:p>
            <a:pPr marL="76200">
              <a:lnSpc>
                <a:spcPts val="1295"/>
              </a:lnSpc>
            </a:pPr>
            <a:r>
              <a:rPr sz="1200" spc="-25" dirty="0">
                <a:latin typeface="Times New Roman"/>
                <a:cs typeface="Times New Roman"/>
              </a:rPr>
              <a:t>);</a:t>
            </a:r>
            <a:endParaRPr sz="1200">
              <a:latin typeface="Times New Roman"/>
              <a:cs typeface="Times New Roman"/>
            </a:endParaRPr>
          </a:p>
          <a:p>
            <a:pPr marL="155575" marR="3340100" indent="-79375">
              <a:lnSpc>
                <a:spcPts val="1340"/>
              </a:lnSpc>
              <a:spcBef>
                <a:spcPts val="1350"/>
              </a:spcBef>
            </a:pP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Librarian</a:t>
            </a:r>
            <a:r>
              <a:rPr sz="1200" spc="-50" dirty="0">
                <a:latin typeface="Times New Roman"/>
                <a:cs typeface="Times New Roman"/>
              </a:rPr>
              <a:t> ( </a:t>
            </a:r>
            <a:r>
              <a:rPr sz="1200" dirty="0">
                <a:latin typeface="Times New Roman"/>
                <a:cs typeface="Times New Roman"/>
              </a:rPr>
              <a:t>Librarian_ID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-20" dirty="0">
                <a:latin typeface="Times New Roman"/>
                <a:cs typeface="Times New Roman"/>
              </a:rPr>
              <a:t> KEY,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60424" y="8314308"/>
            <a:ext cx="5644515" cy="167640"/>
          </a:xfrm>
          <a:custGeom>
            <a:avLst/>
            <a:gdLst/>
            <a:ahLst/>
            <a:cxnLst/>
            <a:rect l="l" t="t" r="r" b="b"/>
            <a:pathLst>
              <a:path w="5644515" h="167640">
                <a:moveTo>
                  <a:pt x="5644007" y="0"/>
                </a:moveTo>
                <a:lnTo>
                  <a:pt x="0" y="0"/>
                </a:lnTo>
                <a:lnTo>
                  <a:pt x="0" y="167639"/>
                </a:lnTo>
                <a:lnTo>
                  <a:pt x="5644007" y="167639"/>
                </a:lnTo>
                <a:lnTo>
                  <a:pt x="564400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00559" y="8280272"/>
            <a:ext cx="1918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VARCHAR(100)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NULL,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60424" y="8481948"/>
            <a:ext cx="5644515" cy="341630"/>
          </a:xfrm>
          <a:custGeom>
            <a:avLst/>
            <a:gdLst/>
            <a:ahLst/>
            <a:cxnLst/>
            <a:rect l="l" t="t" r="r" b="b"/>
            <a:pathLst>
              <a:path w="5644515" h="341629">
                <a:moveTo>
                  <a:pt x="5644007" y="170700"/>
                </a:moveTo>
                <a:lnTo>
                  <a:pt x="0" y="170700"/>
                </a:lnTo>
                <a:lnTo>
                  <a:pt x="0" y="341376"/>
                </a:lnTo>
                <a:lnTo>
                  <a:pt x="5644007" y="341376"/>
                </a:lnTo>
                <a:lnTo>
                  <a:pt x="5644007" y="170700"/>
                </a:lnTo>
                <a:close/>
              </a:path>
              <a:path w="5644515" h="341629">
                <a:moveTo>
                  <a:pt x="5644007" y="0"/>
                </a:moveTo>
                <a:lnTo>
                  <a:pt x="0" y="0"/>
                </a:lnTo>
                <a:lnTo>
                  <a:pt x="0" y="170688"/>
                </a:lnTo>
                <a:lnTo>
                  <a:pt x="5644007" y="170688"/>
                </a:lnTo>
                <a:lnTo>
                  <a:pt x="564400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63600" y="8450960"/>
            <a:ext cx="1120775" cy="37909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5240" marR="5080" indent="-15875">
              <a:lnSpc>
                <a:spcPts val="1340"/>
              </a:lnSpc>
              <a:spcBef>
                <a:spcPts val="225"/>
              </a:spcBef>
            </a:pPr>
            <a:r>
              <a:rPr sz="1200" spc="-10" dirty="0">
                <a:latin typeface="Times New Roman"/>
                <a:cs typeface="Times New Roman"/>
              </a:rPr>
              <a:t>VARCHAR(100), VARCHAR(15)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60424" y="8823325"/>
            <a:ext cx="5644515" cy="167640"/>
          </a:xfrm>
          <a:custGeom>
            <a:avLst/>
            <a:gdLst/>
            <a:ahLst/>
            <a:cxnLst/>
            <a:rect l="l" t="t" r="r" b="b"/>
            <a:pathLst>
              <a:path w="5644515" h="167640">
                <a:moveTo>
                  <a:pt x="5644007" y="0"/>
                </a:moveTo>
                <a:lnTo>
                  <a:pt x="0" y="0"/>
                </a:lnTo>
                <a:lnTo>
                  <a:pt x="0" y="167639"/>
                </a:lnTo>
                <a:lnTo>
                  <a:pt x="5644007" y="167639"/>
                </a:lnTo>
                <a:lnTo>
                  <a:pt x="564400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78712" y="8280272"/>
            <a:ext cx="470534" cy="7175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78740" marR="5080" algn="just">
              <a:lnSpc>
                <a:spcPts val="1340"/>
              </a:lnSpc>
              <a:spcBef>
                <a:spcPts val="225"/>
              </a:spcBef>
            </a:pPr>
            <a:r>
              <a:rPr sz="1200" spc="-20" dirty="0">
                <a:latin typeface="Times New Roman"/>
                <a:cs typeface="Times New Roman"/>
              </a:rPr>
              <a:t>Name </a:t>
            </a:r>
            <a:r>
              <a:rPr sz="1200" spc="-10" dirty="0">
                <a:latin typeface="Times New Roman"/>
                <a:cs typeface="Times New Roman"/>
              </a:rPr>
              <a:t>Email </a:t>
            </a:r>
            <a:r>
              <a:rPr sz="1200" spc="-20" dirty="0">
                <a:latin typeface="Times New Roman"/>
                <a:cs typeface="Times New Roman"/>
              </a:rPr>
              <a:t>Phone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ts val="1300"/>
              </a:lnSpc>
            </a:pPr>
            <a:r>
              <a:rPr sz="1200" spc="-25" dirty="0">
                <a:latin typeface="Times New Roman"/>
                <a:cs typeface="Times New Roman"/>
              </a:rPr>
              <a:t>);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60424" y="8991041"/>
            <a:ext cx="5644515" cy="847725"/>
          </a:xfrm>
          <a:custGeom>
            <a:avLst/>
            <a:gdLst/>
            <a:ahLst/>
            <a:cxnLst/>
            <a:rect l="l" t="t" r="r" b="b"/>
            <a:pathLst>
              <a:path w="5644515" h="847725">
                <a:moveTo>
                  <a:pt x="5644007" y="0"/>
                </a:moveTo>
                <a:lnTo>
                  <a:pt x="0" y="0"/>
                </a:lnTo>
                <a:lnTo>
                  <a:pt x="0" y="170992"/>
                </a:lnTo>
                <a:lnTo>
                  <a:pt x="0" y="338582"/>
                </a:lnTo>
                <a:lnTo>
                  <a:pt x="0" y="509270"/>
                </a:lnTo>
                <a:lnTo>
                  <a:pt x="0" y="679958"/>
                </a:lnTo>
                <a:lnTo>
                  <a:pt x="0" y="847598"/>
                </a:lnTo>
                <a:lnTo>
                  <a:pt x="5644007" y="847598"/>
                </a:lnTo>
                <a:lnTo>
                  <a:pt x="5644007" y="170992"/>
                </a:lnTo>
                <a:lnTo>
                  <a:pt x="564400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78712" y="9127997"/>
            <a:ext cx="2277745" cy="71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39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Loan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(</a:t>
            </a:r>
            <a:endParaRPr sz="1200">
              <a:latin typeface="Times New Roman"/>
              <a:cs typeface="Times New Roman"/>
            </a:endParaRPr>
          </a:p>
          <a:p>
            <a:pPr marL="78740">
              <a:lnSpc>
                <a:spcPts val="1345"/>
              </a:lnSpc>
              <a:tabLst>
                <a:tab pos="894715" algn="l"/>
              </a:tabLst>
            </a:pPr>
            <a:r>
              <a:rPr sz="1200" spc="-10" dirty="0">
                <a:latin typeface="Times New Roman"/>
                <a:cs typeface="Times New Roman"/>
              </a:rPr>
              <a:t>Loan_ID</a:t>
            </a:r>
            <a:r>
              <a:rPr sz="1200" dirty="0">
                <a:latin typeface="Times New Roman"/>
                <a:cs typeface="Times New Roman"/>
              </a:rPr>
              <a:t>	INT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KEY,</a:t>
            </a:r>
            <a:endParaRPr sz="1200">
              <a:latin typeface="Times New Roman"/>
              <a:cs typeface="Times New Roman"/>
            </a:endParaRPr>
          </a:p>
          <a:p>
            <a:pPr marL="78740" marR="958215">
              <a:lnSpc>
                <a:spcPts val="1320"/>
              </a:lnSpc>
              <a:spcBef>
                <a:spcPts val="95"/>
              </a:spcBef>
              <a:tabLst>
                <a:tab pos="909955" algn="l"/>
                <a:tab pos="1019810" algn="l"/>
              </a:tabLst>
            </a:pPr>
            <a:r>
              <a:rPr sz="1200" spc="-10" dirty="0">
                <a:latin typeface="Times New Roman"/>
                <a:cs typeface="Times New Roman"/>
              </a:rPr>
              <a:t>Book_ID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INT, </a:t>
            </a:r>
            <a:r>
              <a:rPr sz="1200" spc="-10" dirty="0">
                <a:latin typeface="Times New Roman"/>
                <a:cs typeface="Times New Roman"/>
              </a:rPr>
              <a:t>Member_ID</a:t>
            </a:r>
            <a:r>
              <a:rPr sz="1200" dirty="0">
                <a:latin typeface="Times New Roman"/>
                <a:cs typeface="Times New Roman"/>
              </a:rPr>
              <a:t>		</a:t>
            </a:r>
            <a:r>
              <a:rPr sz="1200" spc="-20" dirty="0">
                <a:latin typeface="Times New Roman"/>
                <a:cs typeface="Times New Roman"/>
              </a:rPr>
              <a:t>INT,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0424" y="826261"/>
            <a:ext cx="5644515" cy="152463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marL="97155" algn="just">
              <a:lnSpc>
                <a:spcPts val="1225"/>
              </a:lnSpc>
            </a:pPr>
            <a:r>
              <a:rPr sz="1200" dirty="0">
                <a:latin typeface="Times New Roman"/>
                <a:cs typeface="Times New Roman"/>
              </a:rPr>
              <a:t>Librarian_ID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INT,</a:t>
            </a:r>
            <a:endParaRPr sz="1200">
              <a:latin typeface="Times New Roman"/>
              <a:cs typeface="Times New Roman"/>
            </a:endParaRPr>
          </a:p>
          <a:p>
            <a:pPr marL="97155" marR="3456304" algn="just">
              <a:lnSpc>
                <a:spcPct val="92500"/>
              </a:lnSpc>
              <a:spcBef>
                <a:spcPts val="60"/>
              </a:spcBef>
            </a:pPr>
            <a:r>
              <a:rPr sz="1200" dirty="0">
                <a:latin typeface="Times New Roman"/>
                <a:cs typeface="Times New Roman"/>
              </a:rPr>
              <a:t>Issue_Date</a:t>
            </a:r>
            <a:r>
              <a:rPr sz="1200" spc="25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DATE NOT</a:t>
            </a:r>
            <a:r>
              <a:rPr sz="1200" spc="-20" dirty="0">
                <a:latin typeface="Times New Roman"/>
                <a:cs typeface="Times New Roman"/>
              </a:rPr>
              <a:t> NULL, </a:t>
            </a:r>
            <a:r>
              <a:rPr sz="1200" dirty="0">
                <a:latin typeface="Times New Roman"/>
                <a:cs typeface="Times New Roman"/>
              </a:rPr>
              <a:t>Due_Date</a:t>
            </a:r>
            <a:r>
              <a:rPr sz="1200" spc="270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DATE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NULL, </a:t>
            </a:r>
            <a:r>
              <a:rPr sz="1200" dirty="0">
                <a:latin typeface="Times New Roman"/>
                <a:cs typeface="Times New Roman"/>
              </a:rPr>
              <a:t>Return_Date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DATE,</a:t>
            </a:r>
            <a:endParaRPr sz="1200">
              <a:latin typeface="Times New Roman"/>
              <a:cs typeface="Times New Roman"/>
            </a:endParaRPr>
          </a:p>
          <a:p>
            <a:pPr marL="97155">
              <a:lnSpc>
                <a:spcPts val="1285"/>
              </a:lnSpc>
            </a:pPr>
            <a:r>
              <a:rPr sz="1200" dirty="0">
                <a:latin typeface="Times New Roman"/>
                <a:cs typeface="Times New Roman"/>
              </a:rPr>
              <a:t>FOREIGN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(Book_ID)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REFERENCES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Book(Book_ID),</a:t>
            </a:r>
            <a:endParaRPr sz="1200">
              <a:latin typeface="Times New Roman"/>
              <a:cs typeface="Times New Roman"/>
            </a:endParaRPr>
          </a:p>
          <a:p>
            <a:pPr marL="97155" marR="1196975">
              <a:lnSpc>
                <a:spcPts val="134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FOREIGN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(Member_ID)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REFERENCES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Member(Member_ID), </a:t>
            </a:r>
            <a:r>
              <a:rPr sz="1200" dirty="0">
                <a:latin typeface="Times New Roman"/>
                <a:cs typeface="Times New Roman"/>
              </a:rPr>
              <a:t>FOREIGN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(Librarian_ID)</a:t>
            </a:r>
            <a:endParaRPr sz="1200">
              <a:latin typeface="Times New Roman"/>
              <a:cs typeface="Times New Roman"/>
            </a:endParaRPr>
          </a:p>
          <a:p>
            <a:pPr marL="173355">
              <a:lnSpc>
                <a:spcPts val="1250"/>
              </a:lnSpc>
            </a:pPr>
            <a:r>
              <a:rPr sz="1200" dirty="0">
                <a:latin typeface="Times New Roman"/>
                <a:cs typeface="Times New Roman"/>
              </a:rPr>
              <a:t>REFERENCES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Librarian(Librarian_ID)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90"/>
              </a:lnSpc>
            </a:pPr>
            <a:r>
              <a:rPr sz="1200" spc="-25" dirty="0">
                <a:latin typeface="Times New Roman"/>
                <a:cs typeface="Times New Roman"/>
              </a:rPr>
              <a:t>);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2552092"/>
            <a:ext cx="4813300" cy="56134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b="1" dirty="0">
                <a:latin typeface="Times New Roman"/>
                <a:cs typeface="Times New Roman"/>
              </a:rPr>
              <a:t>7.2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Sample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Data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–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DML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00" spc="-10" dirty="0">
                <a:latin typeface="Times New Roman"/>
                <a:cs typeface="Times New Roman"/>
              </a:rPr>
              <a:t>Representative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records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inserted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 all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tables,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rows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total.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704" y="3323208"/>
          <a:ext cx="5732780" cy="1962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1905"/>
                <a:gridCol w="1079500"/>
                <a:gridCol w="3381375"/>
              </a:tblGrid>
              <a:tr h="2362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Table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Records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D9E1F3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890269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Sample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Reference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45593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95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95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D9E1F3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225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Penguin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House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(New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York),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HarperCollins (London)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Great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Gatsby,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1984, To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Kill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Mockingbird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Rahul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Sharma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(Delhi),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Priya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Patel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(Mumbai)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Anita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Desai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Loan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1001 –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book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103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issued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Total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02004" y="5545327"/>
            <a:ext cx="13912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Insert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statements: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0424" y="5823153"/>
            <a:ext cx="5644515" cy="390017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marL="17780">
              <a:lnSpc>
                <a:spcPts val="1240"/>
              </a:lnSpc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Publishers</a:t>
            </a:r>
            <a:endParaRPr sz="1200">
              <a:latin typeface="Times New Roman"/>
              <a:cs typeface="Times New Roman"/>
            </a:endParaRPr>
          </a:p>
          <a:p>
            <a:pPr marL="17780" marR="791210">
              <a:lnSpc>
                <a:spcPts val="134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INSERT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Publisher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(1,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'Penguin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Random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House',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'New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York'); </a:t>
            </a:r>
            <a:r>
              <a:rPr sz="1200" dirty="0">
                <a:latin typeface="Times New Roman"/>
                <a:cs typeface="Times New Roman"/>
              </a:rPr>
              <a:t>INSERT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Publisher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(2,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'HarperCollins',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'London');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90"/>
              </a:lnSpc>
              <a:spcBef>
                <a:spcPts val="1200"/>
              </a:spcBef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Books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35"/>
              </a:lnSpc>
            </a:pPr>
            <a:r>
              <a:rPr sz="1200" dirty="0">
                <a:latin typeface="Times New Roman"/>
                <a:cs typeface="Times New Roman"/>
              </a:rPr>
              <a:t>INSERT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VALUES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35"/>
              </a:lnSpc>
            </a:pPr>
            <a:r>
              <a:rPr sz="1200" dirty="0">
                <a:latin typeface="Times New Roman"/>
                <a:cs typeface="Times New Roman"/>
              </a:rPr>
              <a:t>(101, 'The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Great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Gatsby',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'F. Scott</a:t>
            </a:r>
            <a:r>
              <a:rPr sz="1200" spc="-10" dirty="0">
                <a:latin typeface="Times New Roman"/>
                <a:cs typeface="Times New Roman"/>
              </a:rPr>
              <a:t> Fitzgerald',</a:t>
            </a:r>
            <a:r>
              <a:rPr sz="1200" dirty="0">
                <a:latin typeface="Times New Roman"/>
                <a:cs typeface="Times New Roman"/>
              </a:rPr>
              <a:t> '978-0743273565', 1,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'Fiction',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12.99,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30"/>
              </a:lnSpc>
            </a:pPr>
            <a:r>
              <a:rPr sz="1200" dirty="0">
                <a:latin typeface="Times New Roman"/>
                <a:cs typeface="Times New Roman"/>
              </a:rPr>
              <a:t>'Available',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3),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30"/>
              </a:lnSpc>
            </a:pPr>
            <a:r>
              <a:rPr sz="1200" dirty="0">
                <a:latin typeface="Times New Roman"/>
                <a:cs typeface="Times New Roman"/>
              </a:rPr>
              <a:t>(102,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'1984',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'George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Orwell',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'978-</a:t>
            </a:r>
            <a:r>
              <a:rPr sz="1200" dirty="0">
                <a:latin typeface="Times New Roman"/>
                <a:cs typeface="Times New Roman"/>
              </a:rPr>
              <a:t>0451524935',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'Dystopian',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10.50,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'Available',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2),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45"/>
              </a:lnSpc>
            </a:pPr>
            <a:r>
              <a:rPr sz="1200" dirty="0">
                <a:latin typeface="Times New Roman"/>
                <a:cs typeface="Times New Roman"/>
              </a:rPr>
              <a:t>(103,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Kill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Mockingbird', 'Harper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Lee',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'978-0061120084', 1,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'Classic',</a:t>
            </a:r>
            <a:r>
              <a:rPr sz="1200" dirty="0">
                <a:latin typeface="Times New Roman"/>
                <a:cs typeface="Times New Roman"/>
              </a:rPr>
              <a:t> 11.00,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'Issued',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90"/>
              </a:lnSpc>
            </a:pPr>
            <a:r>
              <a:rPr sz="1200" spc="-25" dirty="0">
                <a:latin typeface="Times New Roman"/>
                <a:cs typeface="Times New Roman"/>
              </a:rPr>
              <a:t>1);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80"/>
              </a:lnSpc>
              <a:spcBef>
                <a:spcPts val="1225"/>
              </a:spcBef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Members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30"/>
              </a:lnSpc>
            </a:pPr>
            <a:r>
              <a:rPr sz="1200" dirty="0">
                <a:latin typeface="Times New Roman"/>
                <a:cs typeface="Times New Roman"/>
              </a:rPr>
              <a:t>INSERT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VALUES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30"/>
              </a:lnSpc>
            </a:pPr>
            <a:r>
              <a:rPr sz="1200" dirty="0">
                <a:latin typeface="Times New Roman"/>
                <a:cs typeface="Times New Roman"/>
              </a:rPr>
              <a:t>(1, 'Rahul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Sharma', </a:t>
            </a:r>
            <a:r>
              <a:rPr sz="1200" spc="-10" dirty="0">
                <a:latin typeface="Times New Roman"/>
                <a:cs typeface="Times New Roman"/>
                <a:hlinkClick r:id="rId2"/>
              </a:rPr>
              <a:t>'rahul@email.com'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r>
              <a:rPr sz="1200" dirty="0">
                <a:latin typeface="Times New Roman"/>
                <a:cs typeface="Times New Roman"/>
              </a:rPr>
              <a:t> '9876543210', 'Delhi', '2025-01-</a:t>
            </a:r>
            <a:r>
              <a:rPr sz="1200" spc="-10" dirty="0">
                <a:latin typeface="Times New Roman"/>
                <a:cs typeface="Times New Roman"/>
              </a:rPr>
              <a:t>15'),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(2,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'Priya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Patel',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  <a:hlinkClick r:id="rId3"/>
              </a:rPr>
              <a:t>'priya@email.com'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'9123456780',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'Mumbai',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'2025-02-</a:t>
            </a:r>
            <a:r>
              <a:rPr sz="1200" spc="-10" dirty="0">
                <a:latin typeface="Times New Roman"/>
                <a:cs typeface="Times New Roman"/>
              </a:rPr>
              <a:t>10');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80"/>
              </a:lnSpc>
              <a:spcBef>
                <a:spcPts val="1250"/>
              </a:spcBef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Librarians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INSERT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Librarian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 (1,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'Anita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Desai',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  <a:hlinkClick r:id="rId4"/>
              </a:rPr>
              <a:t>'anita@library.com'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'9988776655');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90"/>
              </a:lnSpc>
              <a:spcBef>
                <a:spcPts val="1230"/>
              </a:spcBef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Loans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45"/>
              </a:lnSpc>
            </a:pPr>
            <a:r>
              <a:rPr sz="1200" dirty="0">
                <a:latin typeface="Times New Roman"/>
                <a:cs typeface="Times New Roman"/>
              </a:rPr>
              <a:t>INSERT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VALUES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90"/>
              </a:lnSpc>
            </a:pPr>
            <a:r>
              <a:rPr sz="1200" dirty="0">
                <a:latin typeface="Times New Roman"/>
                <a:cs typeface="Times New Roman"/>
              </a:rPr>
              <a:t>(1001,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103,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'2026-</a:t>
            </a:r>
            <a:r>
              <a:rPr sz="1200" dirty="0">
                <a:latin typeface="Times New Roman"/>
                <a:cs typeface="Times New Roman"/>
              </a:rPr>
              <a:t>09-01',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'2026-</a:t>
            </a:r>
            <a:r>
              <a:rPr sz="1200" dirty="0">
                <a:latin typeface="Times New Roman"/>
                <a:cs typeface="Times New Roman"/>
              </a:rPr>
              <a:t>09-15',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NULL);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078737"/>
            <a:ext cx="14293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Publisher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–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2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rows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356613"/>
          <a:ext cx="5732779" cy="7613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635"/>
                <a:gridCol w="2540000"/>
                <a:gridCol w="2049144"/>
              </a:tblGrid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Publisher_ID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Penguin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House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York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HarperCollins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London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2377567"/>
            <a:ext cx="25247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Book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–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3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rows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(selected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columns)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2658744"/>
          <a:ext cx="5731509" cy="1291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3115"/>
                <a:gridCol w="1113155"/>
                <a:gridCol w="1143000"/>
                <a:gridCol w="762000"/>
                <a:gridCol w="573404"/>
                <a:gridCol w="762000"/>
                <a:gridCol w="584835"/>
              </a:tblGrid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Book_ID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3530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Author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Category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Price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Status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Copies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40830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101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Great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Gatsby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5111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F.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Scott Fitzgerald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Fiction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12.99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Available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102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1984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George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Orwell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Dystopian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10.50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Available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830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103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31940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Kill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Mockingbird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Harper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Lee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Classic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11.00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Issued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02004" y="4210049"/>
            <a:ext cx="135064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Member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–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2</a:t>
            </a:r>
            <a:r>
              <a:rPr sz="1400" b="1" spc="-20" dirty="0">
                <a:latin typeface="Times New Roman"/>
                <a:cs typeface="Times New Roman"/>
              </a:rPr>
              <a:t> rows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704" y="4487925"/>
          <a:ext cx="5733413" cy="883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9020"/>
                <a:gridCol w="793115"/>
                <a:gridCol w="1177289"/>
                <a:gridCol w="951229"/>
                <a:gridCol w="698500"/>
                <a:gridCol w="1064260"/>
              </a:tblGrid>
              <a:tr h="22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Member_ID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D9E1F3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Email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D9E1F3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Phone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D9E1F3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Address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D9E1F3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Reg_Date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D9E1F3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21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3022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Rahul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Sharma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D9E1F3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1435"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  <a:hlinkClick r:id="rId2"/>
                        </a:rPr>
                        <a:t>rahul@email.com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21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D9E1F3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9876543210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21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D9E1F3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Delhi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21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D9E1F3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2025-01-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21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D9E1F3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Priya</a:t>
                      </a:r>
                      <a:r>
                        <a:rPr sz="11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Patel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14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  <a:hlinkClick r:id="rId3"/>
                        </a:rPr>
                        <a:t>priya@email.com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9123456780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Mumbai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2025-02-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02004" y="5630671"/>
            <a:ext cx="13817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Librarian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–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row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14704" y="5911849"/>
          <a:ext cx="5732778" cy="508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9500"/>
                <a:gridCol w="1399539"/>
                <a:gridCol w="1842135"/>
                <a:gridCol w="1411604"/>
              </a:tblGrid>
              <a:tr h="2362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Librarian_ID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D9E1F3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Email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D9E1F3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Phone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D9E1F3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27241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Anita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Desai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D9E1F3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  <a:hlinkClick r:id="rId4"/>
                        </a:rPr>
                        <a:t>anita@library.com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D9E1F3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9988776655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D9E1F3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902004" y="6679438"/>
            <a:ext cx="10280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Loan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–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row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914704" y="6957694"/>
          <a:ext cx="5735317" cy="447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8020"/>
                <a:gridCol w="698499"/>
                <a:gridCol w="857250"/>
                <a:gridCol w="921384"/>
                <a:gridCol w="860425"/>
                <a:gridCol w="857250"/>
                <a:gridCol w="872489"/>
              </a:tblGrid>
              <a:tr h="2254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Loan_ID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Book_ID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Member_ID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Librarian_ID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Issue_Date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Due_Date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Return_Date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1001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103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2026-09-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01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2026-09-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NULL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902004" y="7688706"/>
            <a:ext cx="249555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7.3</a:t>
            </a:r>
            <a:r>
              <a:rPr sz="1400" b="1" spc="-10" dirty="0">
                <a:latin typeface="Times New Roman"/>
                <a:cs typeface="Times New Roman"/>
              </a:rPr>
              <a:t> Constraints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&amp;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Data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Integrity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14704" y="7994268"/>
          <a:ext cx="5732145" cy="1864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9500"/>
                <a:gridCol w="1841500"/>
                <a:gridCol w="1969770"/>
                <a:gridCol w="841375"/>
              </a:tblGrid>
              <a:tr h="438784">
                <a:tc>
                  <a:txBody>
                    <a:bodyPr/>
                    <a:lstStyle/>
                    <a:p>
                      <a:pPr marL="197485" marR="139700" indent="-4889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Constraint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Validation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54229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Purpose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R="116839" algn="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Evidence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621665">
                <a:tc>
                  <a:txBody>
                    <a:bodyPr/>
                    <a:lstStyle/>
                    <a:p>
                      <a:pPr marL="57785" marR="321945">
                        <a:lnSpc>
                          <a:spcPct val="101699"/>
                        </a:lnSpc>
                        <a:spcBef>
                          <a:spcPts val="8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PRIMARY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KEY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309245" algn="just">
                        <a:lnSpc>
                          <a:spcPct val="100800"/>
                        </a:lnSpc>
                        <a:spcBef>
                          <a:spcPts val="13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Book_ID,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Member_ID, Librarian_ID,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Loan_ID, Publisher_ID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06680">
                        <a:lnSpc>
                          <a:spcPct val="100800"/>
                        </a:lnSpc>
                        <a:spcBef>
                          <a:spcPts val="13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Uniquely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identifies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each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record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prevents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duplicate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values.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90805" algn="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Section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7.1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04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7785" marR="35496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FOREIGN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KEY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554355">
                        <a:lnSpc>
                          <a:spcPct val="100499"/>
                        </a:lnSpc>
                        <a:spcBef>
                          <a:spcPts val="13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Book.Publisher_ID; Loan.Book_ID, Loan.Member_ID, Loan.Librarian_ID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39700">
                        <a:lnSpc>
                          <a:spcPct val="100800"/>
                        </a:lnSpc>
                        <a:spcBef>
                          <a:spcPts val="8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Maintains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valid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relationships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related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tables (referential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integrity).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79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90805" algn="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Section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7.1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001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14704" y="826261"/>
          <a:ext cx="5732145" cy="25565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9500"/>
                <a:gridCol w="1841500"/>
                <a:gridCol w="1969770"/>
                <a:gridCol w="841375"/>
              </a:tblGrid>
              <a:tr h="435609">
                <a:tc>
                  <a:txBody>
                    <a:bodyPr/>
                    <a:lstStyle/>
                    <a:p>
                      <a:pPr marL="197485" marR="139700" indent="-48895">
                        <a:lnSpc>
                          <a:spcPct val="101699"/>
                        </a:lnSpc>
                        <a:spcBef>
                          <a:spcPts val="14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Constraint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Validation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54229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Purpose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R="116839" algn="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Evidence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NULL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93980">
                        <a:lnSpc>
                          <a:spcPct val="100600"/>
                        </a:lnSpc>
                        <a:spcBef>
                          <a:spcPts val="16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Book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Title;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Member,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Librarian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Publisher;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Loan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Issue_Date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Due_Date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7785" marR="287020">
                        <a:lnSpc>
                          <a:spcPct val="1016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Prevents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missing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values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mandatory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attributes.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90805" algn="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Section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7.1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UNIQUE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Book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ISBN;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Member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Email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40970">
                        <a:lnSpc>
                          <a:spcPct val="101699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Prevents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duplicate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ISBN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e-mail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values.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Section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7.1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5609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DEFAULT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8669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Book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Status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'Available'; Available_Copies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16839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default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values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when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explicitly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supplied.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Section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7.1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CHECK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(optional)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Available_Copies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&gt;=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28575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Restricts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invalid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out-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range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values.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Section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7.3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02004" y="3576065"/>
            <a:ext cx="47599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CHECK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constraint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 with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statement: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0424" y="3994149"/>
            <a:ext cx="5644515" cy="33845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marL="17780">
              <a:lnSpc>
                <a:spcPts val="1225"/>
              </a:lnSpc>
            </a:pPr>
            <a:r>
              <a:rPr sz="1200" dirty="0">
                <a:latin typeface="Times New Roman"/>
                <a:cs typeface="Times New Roman"/>
              </a:rPr>
              <a:t>ALTER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Book</a:t>
            </a:r>
            <a:endParaRPr sz="1200">
              <a:latin typeface="Times New Roman"/>
              <a:cs typeface="Times New Roman"/>
            </a:endParaRPr>
          </a:p>
          <a:p>
            <a:pPr marL="97155">
              <a:lnSpc>
                <a:spcPts val="1390"/>
              </a:lnSpc>
            </a:pPr>
            <a:r>
              <a:rPr sz="1200" dirty="0">
                <a:latin typeface="Times New Roman"/>
                <a:cs typeface="Times New Roman"/>
              </a:rPr>
              <a:t>ADD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CONSTRAINT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chk_copies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CHECK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(Available_Copies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&gt;=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0);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4516932"/>
            <a:ext cx="23653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29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7.4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SQL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Operations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&amp;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Queries </a:t>
            </a:r>
            <a:r>
              <a:rPr sz="1400" b="1" dirty="0">
                <a:latin typeface="Times New Roman"/>
                <a:cs typeface="Times New Roman"/>
              </a:rPr>
              <a:t>DDL,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DML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DQL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14704" y="5195315"/>
          <a:ext cx="5733415" cy="10172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635"/>
                <a:gridCol w="1778000"/>
                <a:gridCol w="3192780"/>
              </a:tblGrid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Purpose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Examples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DDL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Define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structure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CREATE,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ALTER,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DROP,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TRUNCATE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DML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Manipulate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INSERT,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UPDATE,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DELETE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DQL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Query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SELECT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704" y="6433057"/>
          <a:ext cx="5730874" cy="30194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/>
                <a:gridCol w="1713230"/>
                <a:gridCol w="2478404"/>
                <a:gridCol w="1029970"/>
              </a:tblGrid>
              <a:tr h="43560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S.No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Operation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Query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Purpose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133350" indent="-24765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SQL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Query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Ref.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DDL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ALTER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TABLE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Add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column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Listing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below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DML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–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UPDATE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6807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status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book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103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Available.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Listing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below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DML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–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DELETE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Remove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loan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1001.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Listing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below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0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marR="31686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DQL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SELECT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WHERE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467359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List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author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available books.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Listing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below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0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CRUD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–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CREATE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Add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Listing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below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CRUD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–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READ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List the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books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Fiction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category.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Listing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below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6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CRUD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–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UPDATE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208915">
                        <a:lnSpc>
                          <a:spcPct val="101899"/>
                        </a:lnSpc>
                        <a:spcBef>
                          <a:spcPts val="11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Reduce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available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copies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101 by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one.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Listing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below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CRUD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–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DELETE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Remove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3.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Listing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below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14704" y="826261"/>
          <a:ext cx="5730874" cy="11302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/>
                <a:gridCol w="1713230"/>
                <a:gridCol w="2478404"/>
                <a:gridCol w="1029970"/>
              </a:tblGrid>
              <a:tr h="43560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S.No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Operation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Query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Purpose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133350" indent="-247650">
                        <a:lnSpc>
                          <a:spcPct val="101699"/>
                        </a:lnSpc>
                        <a:spcBef>
                          <a:spcPts val="14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SQL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Query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Ref.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JOIN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(3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tables)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3638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Show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books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 are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currently issued.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Listing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below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JOIN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(3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tables)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Show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overdue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books.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Listing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below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02004" y="2216022"/>
            <a:ext cx="250317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DDL,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DML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DQL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operations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0424" y="2493847"/>
            <a:ext cx="5644515" cy="152527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marL="17780">
              <a:lnSpc>
                <a:spcPts val="1235"/>
              </a:lnSpc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DDL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ALTER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COLUMN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Language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VARCHAR(30);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90"/>
              </a:lnSpc>
              <a:spcBef>
                <a:spcPts val="1225"/>
              </a:spcBef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DML</a:t>
            </a:r>
            <a:endParaRPr sz="1200">
              <a:latin typeface="Times New Roman"/>
              <a:cs typeface="Times New Roman"/>
            </a:endParaRPr>
          </a:p>
          <a:p>
            <a:pPr marL="17780" marR="1503680">
              <a:lnSpc>
                <a:spcPts val="1340"/>
              </a:lnSpc>
              <a:spcBef>
                <a:spcPts val="80"/>
              </a:spcBef>
            </a:pPr>
            <a:r>
              <a:rPr sz="1200" dirty="0">
                <a:latin typeface="Times New Roman"/>
                <a:cs typeface="Times New Roman"/>
              </a:rPr>
              <a:t>UPDATE Book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Status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'Available'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Book_ID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103; </a:t>
            </a:r>
            <a:r>
              <a:rPr sz="1200" dirty="0">
                <a:latin typeface="Times New Roman"/>
                <a:cs typeface="Times New Roman"/>
              </a:rPr>
              <a:t>DELETE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Loan_ID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1001;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80"/>
              </a:lnSpc>
              <a:spcBef>
                <a:spcPts val="1200"/>
              </a:spcBef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DQL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Title,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Author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Status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'Available';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4271009"/>
            <a:ext cx="137985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CRUD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operations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0424" y="4551933"/>
            <a:ext cx="5644515" cy="237236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marL="17780">
              <a:lnSpc>
                <a:spcPts val="1225"/>
              </a:lnSpc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Create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45"/>
              </a:lnSpc>
            </a:pPr>
            <a:r>
              <a:rPr sz="1200" dirty="0">
                <a:latin typeface="Times New Roman"/>
                <a:cs typeface="Times New Roman"/>
              </a:rPr>
              <a:t>INSERT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VALUES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90"/>
              </a:lnSpc>
            </a:pPr>
            <a:r>
              <a:rPr sz="1200" dirty="0">
                <a:latin typeface="Times New Roman"/>
                <a:cs typeface="Times New Roman"/>
              </a:rPr>
              <a:t>(3,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'Amit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Kumar', </a:t>
            </a:r>
            <a:r>
              <a:rPr sz="1200" spc="-10" dirty="0">
                <a:latin typeface="Times New Roman"/>
                <a:cs typeface="Times New Roman"/>
                <a:hlinkClick r:id="rId2"/>
              </a:rPr>
              <a:t>'amit@email.com'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'9000011111', </a:t>
            </a:r>
            <a:r>
              <a:rPr sz="1200" spc="-10" dirty="0">
                <a:latin typeface="Times New Roman"/>
                <a:cs typeface="Times New Roman"/>
              </a:rPr>
              <a:t>'Bangalore',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CURDATE());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80"/>
              </a:lnSpc>
              <a:spcBef>
                <a:spcPts val="1220"/>
              </a:spcBef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Read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*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Category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'Fiction';</a:t>
            </a:r>
            <a:endParaRPr sz="1200">
              <a:latin typeface="Times New Roman"/>
              <a:cs typeface="Times New Roman"/>
            </a:endParaRPr>
          </a:p>
          <a:p>
            <a:pPr marL="17780" marR="4646295">
              <a:lnSpc>
                <a:spcPts val="1340"/>
              </a:lnSpc>
              <a:spcBef>
                <a:spcPts val="1355"/>
              </a:spcBef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Update </a:t>
            </a:r>
            <a:r>
              <a:rPr sz="1200" dirty="0">
                <a:latin typeface="Times New Roman"/>
                <a:cs typeface="Times New Roman"/>
              </a:rPr>
              <a:t>UPDATE</a:t>
            </a:r>
            <a:r>
              <a:rPr sz="1200" spc="-20" dirty="0">
                <a:latin typeface="Times New Roman"/>
                <a:cs typeface="Times New Roman"/>
              </a:rPr>
              <a:t> Book</a:t>
            </a:r>
            <a:endParaRPr sz="1200">
              <a:latin typeface="Times New Roman"/>
              <a:cs typeface="Times New Roman"/>
            </a:endParaRPr>
          </a:p>
          <a:p>
            <a:pPr marL="17780" marR="2757805">
              <a:lnSpc>
                <a:spcPts val="132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Available_Copies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Available_Copies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1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Book_ID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101;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90"/>
              </a:lnSpc>
              <a:spcBef>
                <a:spcPts val="1200"/>
              </a:spcBef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Delete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90"/>
              </a:lnSpc>
            </a:pPr>
            <a:r>
              <a:rPr sz="1200" dirty="0">
                <a:latin typeface="Times New Roman"/>
                <a:cs typeface="Times New Roman"/>
              </a:rPr>
              <a:t>DELETE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Member_ID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3;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7176642"/>
            <a:ext cx="11017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Times New Roman"/>
                <a:cs typeface="Times New Roman"/>
              </a:rPr>
              <a:t>Useful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queries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0424" y="7457566"/>
            <a:ext cx="5644515" cy="237236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marL="17780">
              <a:lnSpc>
                <a:spcPts val="1225"/>
              </a:lnSpc>
            </a:pPr>
            <a:r>
              <a:rPr sz="1200" dirty="0">
                <a:latin typeface="Times New Roman"/>
                <a:cs typeface="Times New Roman"/>
              </a:rPr>
              <a:t>-- </a:t>
            </a:r>
            <a:r>
              <a:rPr sz="1200" spc="-10" dirty="0">
                <a:latin typeface="Times New Roman"/>
                <a:cs typeface="Times New Roman"/>
              </a:rPr>
              <a:t>Currently </a:t>
            </a:r>
            <a:r>
              <a:rPr sz="1200" dirty="0">
                <a:latin typeface="Times New Roman"/>
                <a:cs typeface="Times New Roman"/>
              </a:rPr>
              <a:t>issued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books</a:t>
            </a:r>
            <a:endParaRPr sz="1200">
              <a:latin typeface="Times New Roman"/>
              <a:cs typeface="Times New Roman"/>
            </a:endParaRPr>
          </a:p>
          <a:p>
            <a:pPr marL="17780" marR="2414270">
              <a:lnSpc>
                <a:spcPts val="132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b.Title,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m.Name,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l.Issue_Date,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l.Due_Date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Loan </a:t>
            </a:r>
            <a:r>
              <a:rPr sz="1200" spc="-50" dirty="0"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260"/>
              </a:lnSpc>
            </a:pPr>
            <a:r>
              <a:rPr sz="1200" dirty="0">
                <a:latin typeface="Times New Roman"/>
                <a:cs typeface="Times New Roman"/>
              </a:rPr>
              <a:t>JOIN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 b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l.Book_ID =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b.Book_ID</a:t>
            </a:r>
            <a:endParaRPr sz="1200">
              <a:latin typeface="Times New Roman"/>
              <a:cs typeface="Times New Roman"/>
            </a:endParaRPr>
          </a:p>
          <a:p>
            <a:pPr marL="17780" marR="2377440">
              <a:lnSpc>
                <a:spcPts val="134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JOIN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l.Member_ID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m.Member_ID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l.Return_Date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NULL;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390"/>
              </a:lnSpc>
              <a:spcBef>
                <a:spcPts val="1205"/>
              </a:spcBef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Overdue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books</a:t>
            </a:r>
            <a:endParaRPr sz="1200">
              <a:latin typeface="Times New Roman"/>
              <a:cs typeface="Times New Roman"/>
            </a:endParaRPr>
          </a:p>
          <a:p>
            <a:pPr marL="17780" marR="3251835">
              <a:lnSpc>
                <a:spcPts val="132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b.Title,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m.Name,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l.Due_Date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Loan </a:t>
            </a:r>
            <a:r>
              <a:rPr sz="1200" spc="-50" dirty="0"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  <a:p>
            <a:pPr marL="17780">
              <a:lnSpc>
                <a:spcPts val="1265"/>
              </a:lnSpc>
            </a:pPr>
            <a:r>
              <a:rPr sz="1200" dirty="0">
                <a:latin typeface="Times New Roman"/>
                <a:cs typeface="Times New Roman"/>
              </a:rPr>
              <a:t>JOIN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 b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l.Book_ID =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b.Book_ID</a:t>
            </a:r>
            <a:endParaRPr sz="1200">
              <a:latin typeface="Times New Roman"/>
              <a:cs typeface="Times New Roman"/>
            </a:endParaRPr>
          </a:p>
          <a:p>
            <a:pPr marL="17780" marR="2377440">
              <a:lnSpc>
                <a:spcPts val="134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JOIN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l.Member_ID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m.Member_ID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l.Return_Date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NULL</a:t>
            </a:r>
            <a:endParaRPr sz="1200">
              <a:latin typeface="Times New Roman"/>
              <a:cs typeface="Times New Roman"/>
            </a:endParaRPr>
          </a:p>
          <a:p>
            <a:pPr marL="97155">
              <a:lnSpc>
                <a:spcPts val="1320"/>
              </a:lnSpc>
            </a:pP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l.Due_Date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&lt; </a:t>
            </a:r>
            <a:r>
              <a:rPr sz="1200" spc="-10" dirty="0">
                <a:latin typeface="Times New Roman"/>
                <a:cs typeface="Times New Roman"/>
              </a:rPr>
              <a:t>CURDATE();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027457"/>
            <a:ext cx="5751830" cy="82423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b="1" dirty="0">
                <a:latin typeface="Times New Roman"/>
                <a:cs typeface="Times New Roman"/>
              </a:rPr>
              <a:t>7.5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Sample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Outputs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ts val="207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following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show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structure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tables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created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DDL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statements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Section </a:t>
            </a:r>
            <a:r>
              <a:rPr sz="1200" spc="-20" dirty="0">
                <a:latin typeface="Times New Roman"/>
                <a:cs typeface="Times New Roman"/>
              </a:rPr>
              <a:t>7.1.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6" name="object 6" descr="Structure of the Book tabl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0354" y="2061082"/>
            <a:ext cx="3419475" cy="25977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646045" y="4688839"/>
            <a:ext cx="226504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Times New Roman"/>
                <a:cs typeface="Times New Roman"/>
              </a:rPr>
              <a:t>Output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1: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Structure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Book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table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7" name="object 7" descr="Structure of the Publisher table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0354" y="4998719"/>
            <a:ext cx="3418332" cy="10285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14980" y="6057645"/>
            <a:ext cx="252730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Times New Roman"/>
                <a:cs typeface="Times New Roman"/>
              </a:rPr>
              <a:t>Output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2: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Structure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Publisher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table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 descr="Structure of the Member table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70354" y="6367271"/>
            <a:ext cx="3419475" cy="19858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45460" y="8383904"/>
            <a:ext cx="24663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Times New Roman"/>
                <a:cs typeface="Times New Roman"/>
              </a:rPr>
              <a:t>Output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3: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Structure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Member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table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 descr="Structure of the Librarian tabl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0354" y="826007"/>
            <a:ext cx="3418459" cy="1270127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2505836" y="2124582"/>
            <a:ext cx="254444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Times New Roman"/>
                <a:cs typeface="Times New Roman"/>
              </a:rPr>
              <a:t>Output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4: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Structure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Librarian</a:t>
            </a:r>
            <a:r>
              <a:rPr sz="1100" b="1" spc="-40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table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63876" y="798322"/>
            <a:ext cx="343598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8.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MODULES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FUNCTIONALITIES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161541"/>
          <a:ext cx="5732778" cy="29952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5134"/>
                <a:gridCol w="1332230"/>
                <a:gridCol w="2750819"/>
                <a:gridCol w="1204595"/>
              </a:tblGrid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S.No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41719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Module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Functionality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Tables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Involved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621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30416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Book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Inventory Management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30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29083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Maintains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book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records: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title,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author,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ISBN,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category,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price,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status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available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copies.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Book,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Publisher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5245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 Registration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755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Registers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members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stores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their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contact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details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registration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1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76835">
                        <a:lnSpc>
                          <a:spcPct val="101699"/>
                        </a:lnSpc>
                        <a:spcBef>
                          <a:spcPts val="8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Issue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Return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Books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66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02235" algn="just">
                        <a:lnSpc>
                          <a:spcPct val="100800"/>
                        </a:lnSpc>
                        <a:spcBef>
                          <a:spcPts val="13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Records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issue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issue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date,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due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return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date, 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who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issued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book.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marR="381635">
                        <a:lnSpc>
                          <a:spcPct val="100800"/>
                        </a:lnSpc>
                        <a:spcBef>
                          <a:spcPts val="13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Loan,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Book, Member, Librarian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1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525780" algn="just">
                        <a:lnSpc>
                          <a:spcPct val="100800"/>
                        </a:lnSpc>
                        <a:spcBef>
                          <a:spcPts val="13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Availability Tracking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125095">
                        <a:lnSpc>
                          <a:spcPct val="100800"/>
                        </a:lnSpc>
                        <a:spcBef>
                          <a:spcPts val="13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Identifies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currently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issued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overdue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books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tracks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status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available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copies.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Loan,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87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262255">
                        <a:lnSpc>
                          <a:spcPct val="101699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Integrity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Validation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 marR="314325">
                        <a:lnSpc>
                          <a:spcPct val="101699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Keeps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correct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primary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keys,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foreign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keys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constraints.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tables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670294"/>
            <a:ext cx="5516880" cy="660437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1090"/>
              </a:spcBef>
            </a:pPr>
            <a:r>
              <a:rPr sz="1600" b="1" dirty="0">
                <a:latin typeface="Times New Roman"/>
                <a:cs typeface="Times New Roman"/>
              </a:rPr>
              <a:t>9.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GITHUB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REPOSITORY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TEAM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RESPONSIBILITIES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200" b="1" dirty="0">
                <a:latin typeface="Times New Roman"/>
                <a:cs typeface="Times New Roman"/>
              </a:rPr>
              <a:t>Repository</a:t>
            </a:r>
            <a:r>
              <a:rPr sz="1200" b="1" spc="80" dirty="0">
                <a:latin typeface="Times New Roman"/>
                <a:cs typeface="Times New Roman"/>
              </a:rPr>
              <a:t> </a:t>
            </a:r>
            <a:r>
              <a:rPr sz="1200" b="1">
                <a:latin typeface="Times New Roman"/>
                <a:cs typeface="Times New Roman"/>
              </a:rPr>
              <a:t>Link</a:t>
            </a:r>
            <a:r>
              <a:rPr sz="1200" b="1" smtClean="0">
                <a:latin typeface="Times New Roman"/>
                <a:cs typeface="Times New Roman"/>
              </a:rPr>
              <a:t>:</a:t>
            </a:r>
            <a:r>
              <a:rPr lang="en-US" sz="1200" b="1" dirty="0" smtClean="0">
                <a:latin typeface="Times New Roman"/>
                <a:cs typeface="Times New Roman"/>
              </a:rPr>
              <a:t> </a:t>
            </a:r>
            <a:r>
              <a:rPr lang="en-US" sz="1200" dirty="0" smtClean="0">
                <a:latin typeface="Times New Roman"/>
                <a:cs typeface="Times New Roman"/>
              </a:rPr>
              <a:t>https://github.com/saimanish11887/Library-_management_-system.git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551685"/>
          <a:ext cx="5731509" cy="12674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5134"/>
                <a:gridCol w="1460500"/>
                <a:gridCol w="1207135"/>
                <a:gridCol w="2618740"/>
              </a:tblGrid>
              <a:tr h="253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S.No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Team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Member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Roll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Number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  <a:tc>
                  <a:txBody>
                    <a:bodyPr/>
                    <a:lstStyle/>
                    <a:p>
                      <a:pPr marL="84709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Responsibility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3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A.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Ajay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25B11AIB78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Creation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Constraints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T.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Sai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Manish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25B11AIB78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Sample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CRUD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Operations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T.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Jaswanth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25B11AIB83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Diagram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 Schema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Design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Y.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Hemanth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25B11AIC91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Queries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Documentation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Presentation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3011804"/>
            <a:ext cx="36417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Guide: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Ms.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Sravani,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Assistant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</a:t>
            </a:r>
            <a:r>
              <a:rPr sz="1200" spc="-10">
                <a:latin typeface="Times New Roman"/>
                <a:cs typeface="Times New Roman"/>
              </a:rPr>
              <a:t>AIML</a:t>
            </a:r>
            <a:r>
              <a:rPr sz="1200" spc="-10" smtClean="0">
                <a:latin typeface="Times New Roman"/>
                <a:cs typeface="Times New Roman"/>
              </a:rPr>
              <a:t>)</a:t>
            </a:r>
            <a:endParaRPr lang="en-US" sz="1200" spc="-10" dirty="0" smtClean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26</a:t>
            </a:fld>
            <a:endParaRPr spc="-25" dirty="0"/>
          </a:p>
        </p:txBody>
      </p:sp>
      <p:sp>
        <p:nvSpPr>
          <p:cNvPr id="6" name="Rectangle 5"/>
          <p:cNvSpPr/>
          <p:nvPr/>
        </p:nvSpPr>
        <p:spPr>
          <a:xfrm>
            <a:off x="730250" y="3670300"/>
            <a:ext cx="6003925" cy="33043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24180">
              <a:lnSpc>
                <a:spcPct val="100000"/>
              </a:lnSpc>
              <a:spcBef>
                <a:spcPts val="1060"/>
              </a:spcBef>
            </a:pPr>
            <a:r>
              <a:rPr lang="en-US" sz="1600" b="1" spc="-60" dirty="0" smtClean="0">
                <a:latin typeface="Times New Roman"/>
                <a:cs typeface="Times New Roman"/>
              </a:rPr>
              <a:t>10.</a:t>
            </a:r>
            <a:r>
              <a:rPr lang="en-US" sz="2400" b="1" spc="-60" dirty="0" smtClean="0">
                <a:latin typeface="Times New Roman"/>
                <a:cs typeface="Times New Roman"/>
              </a:rPr>
              <a:t> </a:t>
            </a:r>
            <a:r>
              <a:rPr lang="en-US" sz="1600" b="1" dirty="0" smtClean="0">
                <a:latin typeface="Times New Roman"/>
                <a:cs typeface="Times New Roman"/>
              </a:rPr>
              <a:t>ENHANCEMENTS</a:t>
            </a:r>
            <a:r>
              <a:rPr lang="en-US" sz="1600" b="1" spc="-30" dirty="0" smtClean="0">
                <a:latin typeface="Times New Roman"/>
                <a:cs typeface="Times New Roman"/>
              </a:rPr>
              <a:t> </a:t>
            </a:r>
            <a:r>
              <a:rPr lang="en-US" sz="1600" b="1" dirty="0" smtClean="0">
                <a:latin typeface="Times New Roman"/>
                <a:cs typeface="Times New Roman"/>
              </a:rPr>
              <a:t>&amp;</a:t>
            </a:r>
            <a:r>
              <a:rPr lang="en-US" sz="1600" b="1" spc="-50" dirty="0" smtClean="0">
                <a:latin typeface="Times New Roman"/>
                <a:cs typeface="Times New Roman"/>
              </a:rPr>
              <a:t> </a:t>
            </a:r>
            <a:r>
              <a:rPr lang="en-US" sz="1600" b="1" dirty="0" smtClean="0">
                <a:latin typeface="Times New Roman"/>
                <a:cs typeface="Times New Roman"/>
              </a:rPr>
              <a:t>FUTURE</a:t>
            </a:r>
            <a:r>
              <a:rPr lang="en-US" sz="1600" b="1" spc="-20" dirty="0" smtClean="0">
                <a:latin typeface="Times New Roman"/>
                <a:cs typeface="Times New Roman"/>
              </a:rPr>
              <a:t> </a:t>
            </a:r>
            <a:r>
              <a:rPr lang="en-US" sz="1600" b="1" spc="-10" dirty="0" smtClean="0">
                <a:latin typeface="Times New Roman"/>
                <a:cs typeface="Times New Roman"/>
              </a:rPr>
              <a:t>IMPROVEMENTS</a:t>
            </a:r>
            <a:endParaRPr lang="en-US" sz="1600" dirty="0" smtClean="0">
              <a:latin typeface="Times New Roman"/>
              <a:cs typeface="Times New Roman"/>
            </a:endParaRPr>
          </a:p>
          <a:p>
            <a:pPr marL="12700" marR="5080">
              <a:lnSpc>
                <a:spcPct val="143300"/>
              </a:lnSpc>
              <a:spcBef>
                <a:spcPts val="85"/>
              </a:spcBef>
            </a:pPr>
            <a:r>
              <a:rPr lang="en-US" spc="-20" dirty="0" smtClean="0">
                <a:latin typeface="Times New Roman"/>
                <a:cs typeface="Times New Roman"/>
              </a:rPr>
              <a:t>The</a:t>
            </a:r>
            <a:r>
              <a:rPr lang="en-US" spc="-55" dirty="0" smtClean="0">
                <a:latin typeface="Times New Roman"/>
                <a:cs typeface="Times New Roman"/>
              </a:rPr>
              <a:t> </a:t>
            </a:r>
            <a:r>
              <a:rPr lang="en-US" spc="-10" dirty="0" smtClean="0">
                <a:latin typeface="Times New Roman"/>
                <a:cs typeface="Times New Roman"/>
              </a:rPr>
              <a:t>current</a:t>
            </a:r>
            <a:r>
              <a:rPr lang="en-US" spc="-20" dirty="0" smtClean="0">
                <a:latin typeface="Times New Roman"/>
                <a:cs typeface="Times New Roman"/>
              </a:rPr>
              <a:t> </a:t>
            </a:r>
            <a:r>
              <a:rPr lang="en-US" spc="-10" dirty="0" smtClean="0">
                <a:latin typeface="Times New Roman"/>
                <a:cs typeface="Times New Roman"/>
              </a:rPr>
              <a:t>database</a:t>
            </a:r>
            <a:r>
              <a:rPr lang="en-US" spc="-50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can</a:t>
            </a:r>
            <a:r>
              <a:rPr lang="en-US" spc="-45" dirty="0" smtClean="0">
                <a:latin typeface="Times New Roman"/>
                <a:cs typeface="Times New Roman"/>
              </a:rPr>
              <a:t> </a:t>
            </a:r>
            <a:r>
              <a:rPr lang="en-US" spc="-20" dirty="0" smtClean="0">
                <a:latin typeface="Times New Roman"/>
                <a:cs typeface="Times New Roman"/>
              </a:rPr>
              <a:t>be</a:t>
            </a:r>
            <a:r>
              <a:rPr lang="en-US" spc="-55" dirty="0" smtClean="0">
                <a:latin typeface="Times New Roman"/>
                <a:cs typeface="Times New Roman"/>
              </a:rPr>
              <a:t> </a:t>
            </a:r>
            <a:r>
              <a:rPr lang="en-US" spc="-10" dirty="0" smtClean="0">
                <a:latin typeface="Times New Roman"/>
                <a:cs typeface="Times New Roman"/>
              </a:rPr>
              <a:t>extended</a:t>
            </a:r>
            <a:r>
              <a:rPr lang="en-US" spc="-45" dirty="0" smtClean="0">
                <a:latin typeface="Times New Roman"/>
                <a:cs typeface="Times New Roman"/>
              </a:rPr>
              <a:t> </a:t>
            </a:r>
            <a:r>
              <a:rPr lang="en-US" spc="-10" dirty="0" smtClean="0">
                <a:latin typeface="Times New Roman"/>
                <a:cs typeface="Times New Roman"/>
              </a:rPr>
              <a:t>with</a:t>
            </a:r>
            <a:r>
              <a:rPr lang="en-US" spc="-45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new</a:t>
            </a:r>
            <a:r>
              <a:rPr lang="en-US" spc="-25" dirty="0" smtClean="0">
                <a:latin typeface="Times New Roman"/>
                <a:cs typeface="Times New Roman"/>
              </a:rPr>
              <a:t> </a:t>
            </a:r>
            <a:r>
              <a:rPr lang="en-US" spc="-10" dirty="0" smtClean="0">
                <a:latin typeface="Times New Roman"/>
                <a:cs typeface="Times New Roman"/>
              </a:rPr>
              <a:t>features</a:t>
            </a:r>
            <a:r>
              <a:rPr lang="en-US" spc="-65" dirty="0" smtClean="0">
                <a:latin typeface="Times New Roman"/>
                <a:cs typeface="Times New Roman"/>
              </a:rPr>
              <a:t> </a:t>
            </a:r>
            <a:r>
              <a:rPr lang="en-US" spc="-10" dirty="0" smtClean="0">
                <a:latin typeface="Times New Roman"/>
                <a:cs typeface="Times New Roman"/>
              </a:rPr>
              <a:t>such</a:t>
            </a:r>
            <a:r>
              <a:rPr lang="en-US" spc="-70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as</a:t>
            </a:r>
            <a:r>
              <a:rPr lang="en-US" spc="-35" dirty="0" smtClean="0">
                <a:latin typeface="Times New Roman"/>
                <a:cs typeface="Times New Roman"/>
              </a:rPr>
              <a:t> </a:t>
            </a:r>
            <a:r>
              <a:rPr lang="en-US" spc="-10" dirty="0" smtClean="0">
                <a:latin typeface="Times New Roman"/>
                <a:cs typeface="Times New Roman"/>
              </a:rPr>
              <a:t>fines,</a:t>
            </a:r>
            <a:r>
              <a:rPr lang="en-US" spc="-35" dirty="0" smtClean="0">
                <a:latin typeface="Times New Roman"/>
                <a:cs typeface="Times New Roman"/>
              </a:rPr>
              <a:t> </a:t>
            </a:r>
            <a:r>
              <a:rPr lang="en-US" spc="-10" dirty="0" smtClean="0">
                <a:latin typeface="Times New Roman"/>
                <a:cs typeface="Times New Roman"/>
              </a:rPr>
              <a:t>reservations</a:t>
            </a:r>
            <a:r>
              <a:rPr lang="en-US" spc="-65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and</a:t>
            </a:r>
            <a:r>
              <a:rPr lang="en-US" spc="-25" dirty="0" smtClean="0">
                <a:latin typeface="Times New Roman"/>
                <a:cs typeface="Times New Roman"/>
              </a:rPr>
              <a:t> </a:t>
            </a:r>
            <a:r>
              <a:rPr lang="en-US" spc="-10" dirty="0" smtClean="0">
                <a:latin typeface="Times New Roman"/>
                <a:cs typeface="Times New Roman"/>
              </a:rPr>
              <a:t>multiple </a:t>
            </a:r>
            <a:r>
              <a:rPr lang="en-US" dirty="0" smtClean="0">
                <a:latin typeface="Times New Roman"/>
                <a:cs typeface="Times New Roman"/>
              </a:rPr>
              <a:t>library</a:t>
            </a:r>
            <a:r>
              <a:rPr lang="en-US" spc="-70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branches.</a:t>
            </a:r>
            <a:r>
              <a:rPr lang="en-US" spc="-35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Planned</a:t>
            </a:r>
            <a:r>
              <a:rPr lang="en-US" spc="-30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improvements</a:t>
            </a:r>
            <a:r>
              <a:rPr lang="en-US" spc="-50" dirty="0" smtClean="0">
                <a:latin typeface="Times New Roman"/>
                <a:cs typeface="Times New Roman"/>
              </a:rPr>
              <a:t> </a:t>
            </a:r>
            <a:r>
              <a:rPr lang="en-US" spc="-10" dirty="0" smtClean="0">
                <a:latin typeface="Times New Roman"/>
                <a:cs typeface="Times New Roman"/>
              </a:rPr>
              <a:t>include:</a:t>
            </a:r>
            <a:endParaRPr lang="en-US" dirty="0" smtClean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lang="en-US" dirty="0" smtClean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buChar char="•"/>
              <a:tabLst>
                <a:tab pos="469900" algn="l"/>
              </a:tabLst>
            </a:pPr>
            <a:r>
              <a:rPr lang="en-US" dirty="0" smtClean="0">
                <a:latin typeface="Times New Roman"/>
                <a:cs typeface="Times New Roman"/>
              </a:rPr>
              <a:t>Web</a:t>
            </a:r>
            <a:r>
              <a:rPr lang="en-US" spc="-40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/</a:t>
            </a:r>
            <a:r>
              <a:rPr lang="en-US" spc="5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mobile</a:t>
            </a:r>
            <a:r>
              <a:rPr lang="en-US" spc="5" dirty="0" smtClean="0">
                <a:latin typeface="Times New Roman"/>
                <a:cs typeface="Times New Roman"/>
              </a:rPr>
              <a:t> </a:t>
            </a:r>
            <a:r>
              <a:rPr lang="en-US" spc="-10" dirty="0" smtClean="0">
                <a:latin typeface="Times New Roman"/>
                <a:cs typeface="Times New Roman"/>
              </a:rPr>
              <a:t>front-</a:t>
            </a:r>
            <a:r>
              <a:rPr lang="en-US" dirty="0" smtClean="0">
                <a:latin typeface="Times New Roman"/>
                <a:cs typeface="Times New Roman"/>
              </a:rPr>
              <a:t>end for</a:t>
            </a:r>
            <a:r>
              <a:rPr lang="en-US" spc="-10" dirty="0" smtClean="0">
                <a:latin typeface="Times New Roman"/>
                <a:cs typeface="Times New Roman"/>
              </a:rPr>
              <a:t> members</a:t>
            </a:r>
            <a:r>
              <a:rPr lang="en-US" spc="-25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and</a:t>
            </a:r>
            <a:r>
              <a:rPr lang="en-US" spc="5" dirty="0" smtClean="0">
                <a:latin typeface="Times New Roman"/>
                <a:cs typeface="Times New Roman"/>
              </a:rPr>
              <a:t> </a:t>
            </a:r>
            <a:r>
              <a:rPr lang="en-US" spc="-10" dirty="0" smtClean="0">
                <a:latin typeface="Times New Roman"/>
                <a:cs typeface="Times New Roman"/>
              </a:rPr>
              <a:t>librarians.</a:t>
            </a:r>
            <a:endParaRPr lang="en-US" dirty="0" smtClean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55"/>
              </a:spcBef>
              <a:buChar char="•"/>
              <a:tabLst>
                <a:tab pos="469900" algn="l"/>
              </a:tabLst>
            </a:pPr>
            <a:r>
              <a:rPr lang="en-US" dirty="0" smtClean="0">
                <a:latin typeface="Times New Roman"/>
                <a:cs typeface="Times New Roman"/>
              </a:rPr>
              <a:t>Fine</a:t>
            </a:r>
            <a:r>
              <a:rPr lang="en-US" spc="-40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calculation</a:t>
            </a:r>
            <a:r>
              <a:rPr lang="en-US" spc="-30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for</a:t>
            </a:r>
            <a:r>
              <a:rPr lang="en-US" spc="-45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overdue</a:t>
            </a:r>
            <a:r>
              <a:rPr lang="en-US" spc="-40" dirty="0" smtClean="0">
                <a:latin typeface="Times New Roman"/>
                <a:cs typeface="Times New Roman"/>
              </a:rPr>
              <a:t> </a:t>
            </a:r>
            <a:r>
              <a:rPr lang="en-US" spc="-10" dirty="0" smtClean="0">
                <a:latin typeface="Times New Roman"/>
                <a:cs typeface="Times New Roman"/>
              </a:rPr>
              <a:t>books.</a:t>
            </a:r>
            <a:endParaRPr lang="en-US" dirty="0" smtClean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50"/>
              </a:spcBef>
              <a:buChar char="•"/>
              <a:tabLst>
                <a:tab pos="469900" algn="l"/>
              </a:tabLst>
            </a:pPr>
            <a:r>
              <a:rPr lang="en-US" dirty="0" smtClean="0">
                <a:latin typeface="Times New Roman"/>
                <a:cs typeface="Times New Roman"/>
              </a:rPr>
              <a:t>Book</a:t>
            </a:r>
            <a:r>
              <a:rPr lang="en-US" spc="10" dirty="0" smtClean="0">
                <a:latin typeface="Times New Roman"/>
                <a:cs typeface="Times New Roman"/>
              </a:rPr>
              <a:t> </a:t>
            </a:r>
            <a:r>
              <a:rPr lang="en-US" spc="-10" dirty="0" smtClean="0">
                <a:latin typeface="Times New Roman"/>
                <a:cs typeface="Times New Roman"/>
              </a:rPr>
              <a:t>reservation</a:t>
            </a:r>
            <a:r>
              <a:rPr lang="en-US" spc="10" dirty="0" smtClean="0">
                <a:latin typeface="Times New Roman"/>
                <a:cs typeface="Times New Roman"/>
              </a:rPr>
              <a:t> </a:t>
            </a:r>
            <a:r>
              <a:rPr lang="en-US" spc="-10" dirty="0" smtClean="0">
                <a:latin typeface="Times New Roman"/>
                <a:cs typeface="Times New Roman"/>
              </a:rPr>
              <a:t>system.</a:t>
            </a:r>
            <a:endParaRPr lang="en-US" dirty="0" smtClean="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469900" algn="l"/>
              </a:tabLst>
            </a:pPr>
            <a:r>
              <a:rPr lang="en-US" dirty="0" smtClean="0">
                <a:latin typeface="Times New Roman"/>
                <a:cs typeface="Times New Roman"/>
              </a:rPr>
              <a:t>Reports</a:t>
            </a:r>
            <a:r>
              <a:rPr lang="en-US" spc="-15" dirty="0" smtClean="0">
                <a:latin typeface="Times New Roman"/>
                <a:cs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</a:rPr>
              <a:t>and</a:t>
            </a:r>
            <a:r>
              <a:rPr lang="en-US" spc="-5" dirty="0" smtClean="0">
                <a:latin typeface="Times New Roman"/>
                <a:cs typeface="Times New Roman"/>
              </a:rPr>
              <a:t> </a:t>
            </a:r>
            <a:r>
              <a:rPr lang="en-US" spc="-10" dirty="0" smtClean="0">
                <a:latin typeface="Times New Roman"/>
                <a:cs typeface="Times New Roman"/>
              </a:rPr>
              <a:t>analytics</a:t>
            </a:r>
            <a:r>
              <a:rPr lang="en-US" spc="-15" dirty="0" smtClean="0">
                <a:latin typeface="Times New Roman"/>
                <a:cs typeface="Times New Roman"/>
              </a:rPr>
              <a:t> </a:t>
            </a:r>
            <a:r>
              <a:rPr lang="en-US" spc="-10" dirty="0" smtClean="0">
                <a:latin typeface="Times New Roman"/>
                <a:cs typeface="Times New Roman"/>
              </a:rPr>
              <a:t>dashboard.</a:t>
            </a:r>
            <a:endParaRPr lang="en-US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677426"/>
            <a:ext cx="5751830" cy="344868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037080">
              <a:lnSpc>
                <a:spcPct val="100000"/>
              </a:lnSpc>
              <a:spcBef>
                <a:spcPts val="1060"/>
              </a:spcBef>
            </a:pPr>
            <a:r>
              <a:rPr sz="1600" b="1" dirty="0">
                <a:latin typeface="Times New Roman"/>
                <a:cs typeface="Times New Roman"/>
              </a:rPr>
              <a:t>11. </a:t>
            </a:r>
            <a:r>
              <a:rPr sz="1600" b="1" spc="-10" dirty="0">
                <a:latin typeface="Times New Roman"/>
                <a:cs typeface="Times New Roman"/>
              </a:rPr>
              <a:t>CONCLUSION</a:t>
            </a:r>
            <a:endParaRPr sz="1600">
              <a:latin typeface="Times New Roman"/>
              <a:cs typeface="Times New Roman"/>
            </a:endParaRPr>
          </a:p>
          <a:p>
            <a:pPr marL="12700" marR="8890" algn="just">
              <a:lnSpc>
                <a:spcPct val="143400"/>
              </a:lnSpc>
              <a:spcBef>
                <a:spcPts val="85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complete</a:t>
            </a:r>
            <a:r>
              <a:rPr sz="1200" spc="15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Management</a:t>
            </a:r>
            <a:r>
              <a:rPr sz="1200" spc="17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15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15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successfully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160" dirty="0">
                <a:latin typeface="Times New Roman"/>
                <a:cs typeface="Times New Roman"/>
              </a:rPr>
              <a:t> 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implemented.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project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core DBMS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concepts: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modeling,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relational</a:t>
            </a:r>
            <a:r>
              <a:rPr sz="1200" spc="-10" dirty="0">
                <a:latin typeface="Times New Roman"/>
                <a:cs typeface="Times New Roman"/>
              </a:rPr>
              <a:t> schema </a:t>
            </a:r>
            <a:r>
              <a:rPr sz="1200" dirty="0">
                <a:latin typeface="Times New Roman"/>
                <a:cs typeface="Times New Roman"/>
              </a:rPr>
              <a:t>design,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constraints,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DDL,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DML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DQL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statements,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CRUD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operations.</a:t>
            </a:r>
            <a:endParaRPr sz="1200">
              <a:latin typeface="Times New Roman"/>
              <a:cs typeface="Times New Roman"/>
            </a:endParaRPr>
          </a:p>
          <a:p>
            <a:pPr marL="12700" marR="10795" algn="just">
              <a:lnSpc>
                <a:spcPct val="143300"/>
              </a:lnSpc>
              <a:spcBef>
                <a:spcPts val="101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integrity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keys,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foreign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constraints,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easily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extended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fines,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reservations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multiple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branches.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Key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concepts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applied</a:t>
            </a:r>
            <a:endParaRPr sz="14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320"/>
              </a:spcBef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modeling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conversion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schema.</a:t>
            </a:r>
            <a:endParaRPr sz="1200">
              <a:latin typeface="Times New Roman"/>
              <a:cs typeface="Times New Roman"/>
            </a:endParaRPr>
          </a:p>
          <a:p>
            <a:pPr marL="469900" marR="5080" indent="-229235">
              <a:lnSpc>
                <a:spcPct val="110000"/>
              </a:lnSpc>
              <a:spcBef>
                <a:spcPts val="405"/>
              </a:spcBef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keys,</a:t>
            </a:r>
            <a:r>
              <a:rPr sz="1200" spc="48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foreign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keys,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NULL,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UNIQUE,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DEFAULT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CHECK constraints.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55"/>
              </a:spcBef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DDL,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DML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DQL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statements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CRUD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operations.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555"/>
              </a:spcBef>
              <a:buChar char="•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Join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queries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currently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issued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overdue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books.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200"/>
              </a:lnSpc>
            </a:pPr>
            <a:fld id="{81D60167-4931-47E6-BA6A-407CBD079E47}" type="slidenum">
              <a:rPr spc="-25" dirty="0"/>
              <a:pPr marL="33020">
                <a:lnSpc>
                  <a:spcPts val="1200"/>
                </a:lnSpc>
              </a:pPr>
              <a:t>27</a:t>
            </a:fld>
            <a:endParaRPr spc="-25" dirty="0"/>
          </a:p>
        </p:txBody>
      </p:sp>
      <p:sp>
        <p:nvSpPr>
          <p:cNvPr id="4" name="Rectangle 3"/>
          <p:cNvSpPr/>
          <p:nvPr/>
        </p:nvSpPr>
        <p:spPr>
          <a:xfrm>
            <a:off x="501650" y="4889500"/>
            <a:ext cx="5943600" cy="1799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14830">
              <a:lnSpc>
                <a:spcPct val="100000"/>
              </a:lnSpc>
              <a:spcBef>
                <a:spcPts val="1060"/>
              </a:spcBef>
            </a:pPr>
            <a:r>
              <a:rPr lang="en-US" sz="1600" b="1" dirty="0" smtClean="0">
                <a:latin typeface="Times New Roman"/>
                <a:cs typeface="Times New Roman"/>
              </a:rPr>
              <a:t>12. </a:t>
            </a:r>
            <a:r>
              <a:rPr lang="en-US" sz="1600" b="1" spc="-10" dirty="0" smtClean="0">
                <a:latin typeface="Times New Roman"/>
                <a:cs typeface="Times New Roman"/>
              </a:rPr>
              <a:t>REFERENCES</a:t>
            </a:r>
            <a:endParaRPr lang="en-US" sz="1600" b="1" dirty="0" smtClean="0">
              <a:latin typeface="Times New Roman"/>
              <a:cs typeface="Times New Roman"/>
            </a:endParaRPr>
          </a:p>
          <a:p>
            <a:pPr marL="241300" indent="-228600" algn="ctr">
              <a:lnSpc>
                <a:spcPct val="100000"/>
              </a:lnSpc>
              <a:spcBef>
                <a:spcPts val="710"/>
              </a:spcBef>
              <a:buChar char="•"/>
              <a:tabLst>
                <a:tab pos="241300" algn="l"/>
              </a:tabLst>
            </a:pP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sz="1400" b="1" spc="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repository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://github.com/saimanish11887/Library-_management_-system.git</a:t>
            </a:r>
          </a:p>
          <a:p>
            <a:pPr marL="241300" marR="5080" indent="-229235">
              <a:lnSpc>
                <a:spcPct val="110200"/>
              </a:lnSpc>
              <a:spcBef>
                <a:spcPts val="405"/>
              </a:spcBef>
              <a:buChar char="•"/>
              <a:tabLst>
                <a:tab pos="241300" algn="l"/>
              </a:tabLst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DBMS</a:t>
            </a:r>
            <a:r>
              <a:rPr lang="en-US" sz="1400" spc="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Cornerstone</a:t>
            </a:r>
            <a:r>
              <a:rPr lang="en-US" sz="1400" spc="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Project</a:t>
            </a:r>
            <a:r>
              <a:rPr lang="en-US" sz="1400" spc="9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Review</a:t>
            </a:r>
            <a:r>
              <a:rPr lang="en-US" sz="1400" spc="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(Review</a:t>
            </a:r>
            <a:r>
              <a:rPr lang="en-US" sz="1400" spc="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II)</a:t>
            </a:r>
            <a:r>
              <a:rPr lang="en-US" sz="1400" spc="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presentation</a:t>
            </a:r>
            <a:r>
              <a:rPr lang="en-US" sz="1400" spc="8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1400" spc="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Library</a:t>
            </a:r>
            <a:r>
              <a:rPr lang="en-US" sz="1400" spc="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spc="-10" dirty="0" smtClean="0">
                <a:latin typeface="Times New Roman" pitchFamily="18" charset="0"/>
                <a:cs typeface="Times New Roman" pitchFamily="18" charset="0"/>
              </a:rPr>
              <a:t>Management System.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555"/>
              </a:spcBef>
              <a:buChar char="•"/>
              <a:tabLst>
                <a:tab pos="241300" algn="l"/>
              </a:tabLst>
            </a:pP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Aditya</a:t>
            </a:r>
            <a:r>
              <a:rPr lang="en-US" sz="1400" spc="-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en-US" sz="14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1400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DBMS</a:t>
            </a:r>
            <a:r>
              <a:rPr lang="en-US" sz="1400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Project</a:t>
            </a:r>
            <a:r>
              <a:rPr lang="en-US" sz="1400" spc="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spc="-10" dirty="0" smtClean="0">
                <a:latin typeface="Times New Roman" pitchFamily="18" charset="0"/>
                <a:cs typeface="Times New Roman" pitchFamily="18" charset="0"/>
              </a:rPr>
              <a:t>documentation</a:t>
            </a:r>
            <a:r>
              <a:rPr lang="en-US" sz="14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spc="-10" dirty="0" smtClean="0">
                <a:latin typeface="Times New Roman" pitchFamily="18" charset="0"/>
                <a:cs typeface="Times New Roman" pitchFamily="18" charset="0"/>
              </a:rPr>
              <a:t>template.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4076</Words>
  <Application>Microsoft Office PowerPoint</Application>
  <PresentationFormat>Custom</PresentationFormat>
  <Paragraphs>1081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 – DBMS Cornerstone Project Report</dc:title>
  <dc:creator>Project Team</dc:creator>
  <cp:lastModifiedBy>HP</cp:lastModifiedBy>
  <cp:revision>1</cp:revision>
  <dcterms:created xsi:type="dcterms:W3CDTF">2026-10-07T00:47:22Z</dcterms:created>
  <dcterms:modified xsi:type="dcterms:W3CDTF">2026-10-07T01:08:19Z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2026-10-07T00:00:00Z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2026-10-07T00:00:00Z</vt:filetime>
  </property>
  <property fmtid="{D5CDD505-2E9C-101B-9397-08002B2CF9AE}" pid="6" name="Producer">
    <vt:lpwstr>www.ilovepdf.com</vt:lpwstr>
  </property>
</Properties>
</file>